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54"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wrap="square" lIns="0" tIns="0" rIns="0" bIns="0" anchor="t">
            <a:noAutofit/>
          </a:bodyPr>
          <a:lstStyle/>
          <a:p>
            <a:pPr marL="0" indent="0" algn="l">
              <a:lnSpc>
                <a:spcPct val="110000"/>
              </a:lnSpc>
              <a:spcAft>
                <a:spcPts val="400"/>
              </a:spcAft>
              <a:buNone/>
            </a:pPr>
            <a:r>
              <a:rPr lang="en-US" sz="1200" b="0">
                <a:solidFill>
                  <a:srgbClr val="182C2A"/>
                </a:solidFill>
                <a:latin typeface="Arial"/>
                <a:ea typeface="Arial"/>
                <a:cs typeface="Arial"/>
              </a:rPr>
              <a:t>Pollution Spotter is our proposed hackathon project, led by Sharanya Mondal. The team name and leader were confirmed by the user. This is an idea-selection presentation, not evidence of an implemented product.</a:t>
            </a:r>
            <a:endParaRPr sz="1200"/>
          </a:p>
          <a:p>
            <a:pPr marL="0" indent="0" algn="l">
              <a:lnSpc>
                <a:spcPct val="110000"/>
              </a:lnSpc>
              <a:spcAft>
                <a:spcPts val="400"/>
              </a:spcAft>
              <a:buNone/>
            </a:pPr>
            <a:r>
              <a:rPr lang="en-US" sz="1200" b="0">
                <a:solidFill>
                  <a:srgbClr val="182C2A"/>
                </a:solidFill>
                <a:latin typeface="Arial"/>
                <a:ea typeface="Arial"/>
                <a:cs typeface="Arial"/>
              </a:rPr>
              <a:t>We want to make visible pollution observations around ponds and canals easier to document, review and turn into a structured report. The project does not determine water safety. Event: AKI HACKS, Kolkata, 31 October 2026. Official hacking time is 10:00 AM to 6:00 PM IST.</a:t>
            </a:r>
            <a:endParaRPr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h9215772b6f3521c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h9215772b6f3521c_0_1:notes"/>
          <p:cNvSpPr txBox="1">
            <a:spLocks noGrp="1"/>
          </p:cNvSpPr>
          <p:nvPr>
            <p:ph type="body" idx="1"/>
          </p:nvPr>
        </p:nvSpPr>
        <p:spPr>
          <a:xfrm>
            <a:off x="685800" y="4343400"/>
            <a:ext cx="5486400" cy="4114800"/>
          </a:xfrm>
          <a:prstGeom prst="rect">
            <a:avLst/>
          </a:prstGeom>
        </p:spPr>
        <p:txBody>
          <a:bodyPr wrap="square" lIns="0" tIns="0" rIns="0" bIns="0" anchor="t">
            <a:noAutofit/>
          </a:bodyPr>
          <a:lstStyle/>
          <a:p>
            <a:pPr marL="0" indent="0" algn="l">
              <a:lnSpc>
                <a:spcPct val="110000"/>
              </a:lnSpc>
              <a:spcAft>
                <a:spcPts val="400"/>
              </a:spcAft>
              <a:buNone/>
            </a:pPr>
            <a:r>
              <a:rPr lang="en-US" sz="1200" b="0">
                <a:solidFill>
                  <a:srgbClr val="182C2A"/>
                </a:solidFill>
                <a:latin typeface="Arial"/>
                <a:ea typeface="Arial"/>
                <a:cs typeface="Arial"/>
              </a:rPr>
              <a:t>Problem hypothesis: community observations often lack a consistent combination of photo, location, reviewed description and a usable reporting next step. This is a proposed problem/solution, not a measured market claim.</a:t>
            </a:r>
            <a:endParaRPr sz="1200"/>
          </a:p>
          <a:p>
            <a:pPr marL="0" indent="0" algn="l">
              <a:lnSpc>
                <a:spcPct val="110000"/>
              </a:lnSpc>
              <a:spcAft>
                <a:spcPts val="400"/>
              </a:spcAft>
              <a:buNone/>
            </a:pPr>
            <a:r>
              <a:rPr lang="en-US" sz="1200" b="0">
                <a:solidFill>
                  <a:srgbClr val="182C2A"/>
                </a:solidFill>
                <a:latin typeface="Arial"/>
                <a:ea typeface="Arial"/>
                <a:cs typeface="Arial"/>
              </a:rPr>
              <a:t>The MVP uses a private image upload, conservative model suggestions when available, mandatory human review, a public map of safe reviewed fields, and local complaint text that the user copies and sends. No automatic authority contact, toxicity detection or claim of official integration.</a:t>
            </a:r>
            <a:endParaRPr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h9215772b6f3521c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h9215772b6f3521c_0_53:notes"/>
          <p:cNvSpPr txBox="1">
            <a:spLocks noGrp="1"/>
          </p:cNvSpPr>
          <p:nvPr>
            <p:ph type="body" idx="1"/>
          </p:nvPr>
        </p:nvSpPr>
        <p:spPr>
          <a:xfrm>
            <a:off x="685800" y="4343400"/>
            <a:ext cx="5486400" cy="4114800"/>
          </a:xfrm>
          <a:prstGeom prst="rect">
            <a:avLst/>
          </a:prstGeom>
        </p:spPr>
        <p:txBody>
          <a:bodyPr wrap="square" lIns="0" tIns="0" rIns="0" bIns="0" anchor="t">
            <a:noAutofit/>
          </a:bodyPr>
          <a:lstStyle/>
          <a:p>
            <a:pPr marL="0" indent="0" algn="l">
              <a:lnSpc>
                <a:spcPct val="110000"/>
              </a:lnSpc>
              <a:spcAft>
                <a:spcPts val="400"/>
              </a:spcAft>
              <a:buNone/>
            </a:pPr>
            <a:r>
              <a:rPr lang="en-US" sz="1200" b="0">
                <a:solidFill>
                  <a:srgbClr val="182C2A"/>
                </a:solidFill>
                <a:latin typeface="Arial"/>
                <a:ea typeface="Arial"/>
                <a:cs typeface="Arial"/>
              </a:rPr>
              <a:t>The reporter selects a JPEG, PNG or WebP image up to 3 MB. They confirm location through a map pin or coordinates; GPS is optional. The server normalizes the image and strips EXIF.</a:t>
            </a:r>
            <a:endParaRPr sz="1200"/>
          </a:p>
          <a:p>
            <a:pPr marL="0" indent="0" algn="l">
              <a:lnSpc>
                <a:spcPct val="110000"/>
              </a:lnSpc>
              <a:spcAft>
                <a:spcPts val="400"/>
              </a:spcAft>
              <a:buNone/>
            </a:pPr>
            <a:r>
              <a:rPr lang="en-US" sz="1200" b="0">
                <a:solidFill>
                  <a:srgbClr val="182C2A"/>
                </a:solidFill>
                <a:latin typeface="Arial"/>
                <a:ea typeface="Arial"/>
                <a:cs typeface="Arial"/>
              </a:rPr>
              <a:t>A private owned draft is created. Gemini attempts visible-label suggestions; a 12-second deadline or invalid output activates an explicitly labeled manual fallback. The reporter can correct labels, description and location, then explicitly publish. Publication updates the same draft row to avoid duplication.</a:t>
            </a:r>
            <a:endParaRPr sz="1200"/>
          </a:p>
          <a:p>
            <a:pPr marL="0" indent="0" algn="l">
              <a:lnSpc>
                <a:spcPct val="110000"/>
              </a:lnSpc>
              <a:spcAft>
                <a:spcPts val="400"/>
              </a:spcAft>
              <a:buNone/>
            </a:pPr>
            <a:r>
              <a:rPr lang="en-US" sz="1200" b="0">
                <a:solidFill>
                  <a:srgbClr val="182C2A"/>
                </a:solidFill>
                <a:latin typeface="Arial"/>
                <a:ea typeface="Arial"/>
                <a:cs typeface="Arial"/>
              </a:rPr>
              <a:t>Only safe published details reach the map. Photos, owner identifiers and storage paths remain private. The map loads and refreshes after publication, with a manual refresh control. The complaint is generated locally from confirmed fields and copied. Samples stay in a distinct sample view.</a:t>
            </a:r>
            <a:endParaRPr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h9215772b6f3521c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h9215772b6f3521c_0_62:notes"/>
          <p:cNvSpPr txBox="1">
            <a:spLocks noGrp="1"/>
          </p:cNvSpPr>
          <p:nvPr>
            <p:ph type="body" idx="1"/>
          </p:nvPr>
        </p:nvSpPr>
        <p:spPr>
          <a:xfrm>
            <a:off x="685800" y="4343400"/>
            <a:ext cx="5486400" cy="4114800"/>
          </a:xfrm>
          <a:prstGeom prst="rect">
            <a:avLst/>
          </a:prstGeom>
        </p:spPr>
        <p:txBody>
          <a:bodyPr wrap="square" lIns="0" tIns="0" rIns="0" bIns="0" anchor="t">
            <a:noAutofit/>
          </a:bodyPr>
          <a:lstStyle/>
          <a:p>
            <a:pPr marL="0" indent="0" algn="l">
              <a:lnSpc>
                <a:spcPct val="110000"/>
              </a:lnSpc>
              <a:spcAft>
                <a:spcPts val="400"/>
              </a:spcAft>
              <a:buNone/>
            </a:pPr>
            <a:r>
              <a:rPr lang="en-US" sz="1200" b="0">
                <a:solidFill>
                  <a:srgbClr val="182C2A"/>
                </a:solidFill>
                <a:latin typeface="Arial"/>
                <a:ea typeface="Arial"/>
                <a:cs typeface="Arial"/>
              </a:rPr>
              <a:t>Proposed stack: Next.js App Router with TypeScript and Tailwind, React Leaflet with attributed OpenStreetMap tiles, Supabase Postgres/private Storage/anonymous auth, server-side Gemini via @google/genai, and Vercel.</a:t>
            </a:r>
            <a:endParaRPr sz="1200"/>
          </a:p>
          <a:p>
            <a:pPr marL="0" indent="0" algn="l">
              <a:lnSpc>
                <a:spcPct val="110000"/>
              </a:lnSpc>
              <a:spcAft>
                <a:spcPts val="400"/>
              </a:spcAft>
              <a:buNone/>
            </a:pPr>
            <a:r>
              <a:rPr lang="en-US" sz="1200" b="0">
                <a:solidFill>
                  <a:srgbClr val="182C2A"/>
                </a:solidFill>
                <a:latin typeface="Arial"/>
                <a:ea typeface="Arial"/>
                <a:cs typeface="Arial"/>
              </a:rPr>
              <a:t>Next.js server routes validate the session and draft owner on writes. Client code does not receive service-role or Gemini keys. Database/private-photo access is restricted. Only reviewed public fields are returned by the public reports route. The exact available Gemini model ID is chosen after the event-hour smoke test. Gemini Flash is not Gemma 4; this deck does not claim eligibility for the Gemma or open-source AI challenge.</a:t>
            </a:r>
            <a:endParaRPr sz="1200"/>
          </a:p>
          <a:p>
            <a:pPr marL="0" indent="0" algn="l">
              <a:lnSpc>
                <a:spcPct val="110000"/>
              </a:lnSpc>
              <a:spcAft>
                <a:spcPts val="400"/>
              </a:spcAft>
              <a:buNone/>
            </a:pPr>
            <a:r>
              <a:rPr lang="en-US" sz="1200" b="0">
                <a:solidFill>
                  <a:srgbClr val="182C2A"/>
                </a:solidFill>
                <a:latin typeface="Arial"/>
                <a:ea typeface="Arial"/>
                <a:cs typeface="Arial"/>
              </a:rPr>
              <a:t>Privacy checks and the live/manual distinction are minimum acceptance criteria, not optional polish. The diagrams describe the proposed architecture; they do not claim it has been deployed.</a:t>
            </a:r>
            <a:endParaRPr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h9215772b6f3521c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h9215772b6f3521c_0_71:notes"/>
          <p:cNvSpPr txBox="1">
            <a:spLocks noGrp="1"/>
          </p:cNvSpPr>
          <p:nvPr>
            <p:ph type="body" idx="1"/>
          </p:nvPr>
        </p:nvSpPr>
        <p:spPr>
          <a:xfrm>
            <a:off x="685800" y="4343400"/>
            <a:ext cx="5486400" cy="4114800"/>
          </a:xfrm>
          <a:prstGeom prst="rect">
            <a:avLst/>
          </a:prstGeom>
        </p:spPr>
        <p:txBody>
          <a:bodyPr wrap="square" lIns="0" tIns="0" rIns="0" bIns="0" anchor="t">
            <a:noAutofit/>
          </a:bodyPr>
          <a:lstStyle/>
          <a:p>
            <a:pPr marL="0" indent="0" algn="l">
              <a:lnSpc>
                <a:spcPct val="110000"/>
              </a:lnSpc>
              <a:spcAft>
                <a:spcPts val="400"/>
              </a:spcAft>
              <a:buNone/>
            </a:pPr>
            <a:r>
              <a:rPr lang="en-US" sz="1200" b="0">
                <a:solidFill>
                  <a:srgbClr val="182C2A"/>
                </a:solidFill>
                <a:latin typeface="Arial"/>
                <a:ea typeface="Arial"/>
                <a:cs typeface="Arial"/>
              </a:rPr>
              <a:t>These are design choices that distinguish the proposed workflow, not claims that no competing tool has them. Mandatory human review limits uncritical use of model labels. Private images and owner data reduce unnecessary public exposure. Manual fallback avoids pretending a provider failure succeeded. A coherent report-to-complaint flow gives the observation a next action.</a:t>
            </a:r>
            <a:endParaRPr sz="1200"/>
          </a:p>
          <a:p>
            <a:pPr marL="0" indent="0" algn="l">
              <a:lnSpc>
                <a:spcPct val="110000"/>
              </a:lnSpc>
              <a:spcAft>
                <a:spcPts val="400"/>
              </a:spcAft>
              <a:buNone/>
            </a:pPr>
            <a:r>
              <a:rPr lang="en-US" sz="1200" b="0">
                <a:solidFill>
                  <a:srgbClr val="182C2A"/>
                </a:solidFill>
                <a:latin typeface="Arial"/>
                <a:ea typeface="Arial"/>
                <a:cs typeface="Arial"/>
              </a:rPr>
              <a:t>Image labels describe visible appearance only. Discoloured water does not prove chemical contamination, and neutral labels do not prove safety. Hotspot analysis, public photos, moderation and production-scale reliability are outside the eight-hour core.</a:t>
            </a:r>
            <a:endParaRPr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h9215772b6f3521c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h9215772b6f3521c_0_81:notes"/>
          <p:cNvSpPr txBox="1">
            <a:spLocks noGrp="1"/>
          </p:cNvSpPr>
          <p:nvPr>
            <p:ph type="body" idx="1"/>
          </p:nvPr>
        </p:nvSpPr>
        <p:spPr>
          <a:xfrm>
            <a:off x="685800" y="4343400"/>
            <a:ext cx="5486400" cy="4114800"/>
          </a:xfrm>
          <a:prstGeom prst="rect">
            <a:avLst/>
          </a:prstGeom>
        </p:spPr>
        <p:txBody>
          <a:bodyPr wrap="square" lIns="0" tIns="0" rIns="0" bIns="0" anchor="t">
            <a:noAutofit/>
          </a:bodyPr>
          <a:lstStyle/>
          <a:p>
            <a:pPr marL="0" indent="0" algn="l">
              <a:lnSpc>
                <a:spcPct val="110000"/>
              </a:lnSpc>
              <a:spcAft>
                <a:spcPts val="400"/>
              </a:spcAft>
              <a:buNone/>
            </a:pPr>
            <a:r>
              <a:rPr lang="en-US" sz="1200" b="0">
                <a:solidFill>
                  <a:srgbClr val="182C2A"/>
                </a:solidFill>
                <a:latin typeface="Arial"/>
                <a:ea typeface="Arial"/>
                <a:cs typeface="Arial"/>
              </a:rPr>
              <a:t>The official hacking window is eight hours, 10:00 AM to 6:00 PM IST. H1 is 11 AM, H3 is 1 PM, H5 is 3 PM, H7 is 5 PM and H8 is 6 PM. H1 establishes contracts and setup. H3 demonstrates an integrated manual or clearly mocked slice. H5 targets the live core; if model access fails, record a labeled manual fallback and leave the live-AI gate unmet. H7 freezes features. H8 is a rehearsed, honestly labeled demonstration.</a:t>
            </a:r>
            <a:endParaRPr sz="1200"/>
          </a:p>
          <a:p>
            <a:pPr marL="0" indent="0" algn="l">
              <a:lnSpc>
                <a:spcPct val="110000"/>
              </a:lnSpc>
              <a:spcAft>
                <a:spcPts val="400"/>
              </a:spcAft>
              <a:buNone/>
            </a:pPr>
            <a:r>
              <a:rPr lang="en-US" sz="1200" b="0">
                <a:solidFill>
                  <a:srgbClr val="182C2A"/>
                </a:solidFill>
                <a:latin typeface="Arial"/>
                <a:ea typeface="Arial"/>
                <a:cs typeface="Arial"/>
              </a:rPr>
              <a:t>Four workstreams cover frontend, backend/deployment, vision, and map/integration QA. Six focused smoke cases replace a broad evaluation campaign; no accuracy percentage is claimed. The impact question is whether a person can create a clear reviewed report and copy a useful complaint. Hotspots, moderation and broader evaluation are future work.</a:t>
            </a:r>
            <a:endParaRPr sz="1200"/>
          </a:p>
          <a:p>
            <a:pPr marL="0" indent="0" algn="l">
              <a:lnSpc>
                <a:spcPct val="110000"/>
              </a:lnSpc>
              <a:spcAft>
                <a:spcPts val="400"/>
              </a:spcAft>
              <a:buNone/>
            </a:pPr>
            <a:r>
              <a:rPr lang="en-US" sz="1200" b="0">
                <a:solidFill>
                  <a:srgbClr val="182C2A"/>
                </a:solidFill>
                <a:latin typeface="Arial"/>
                <a:ea typeface="Arial"/>
                <a:cs typeface="Arial"/>
              </a:rPr>
              <a:t>The repository contains plans and presentation assets, not an implemented application. Pre-event coding permission and presentation submission deadlines are not specified on the public event page. Follow organizer instructions. Event source: https://events.mlh.com/events/15462-hacktoberfest-hack-day-kolkata-x-aki-hacks</a:t>
            </a:r>
            <a:endParaRPr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6" name="Google Shape;56;p13" title="👑 main character needs a title 👑.png"/>
          <p:cNvPicPr preferRelativeResize="0"/>
          <p:nvPr/>
        </p:nvPicPr>
        <p:blipFill>
          <a:blip r:embed="rId3">
            <a:alphaModFix/>
          </a:blip>
          <a:stretch>
            <a:fillRect/>
          </a:stretch>
        </p:blipFill>
        <p:spPr>
          <a:xfrm>
            <a:off x="0" y="0"/>
            <a:ext cx="9144003" cy="5143501"/>
          </a:xfrm>
          <a:prstGeom prst="rect">
            <a:avLst/>
          </a:prstGeom>
          <a:noFill/>
          <a:ln>
            <a:noFill/>
          </a:ln>
        </p:spPr>
      </p:pic>
      <p:sp>
        <p:nvSpPr>
          <p:cNvPr id="1000" name="cover information panel"/>
          <p:cNvSpPr txBox="1"/>
          <p:nvPr/>
        </p:nvSpPr>
        <p:spPr>
          <a:xfrm>
            <a:off x="2889504" y="2474309"/>
            <a:ext cx="5669280" cy="1856232"/>
          </a:xfrm>
          <a:prstGeom prst="roundRect">
            <a:avLst/>
          </a:prstGeom>
          <a:solidFill>
            <a:srgbClr val="FFFFFF">
              <a:alpha val="39000"/>
            </a:srgbClr>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01" name="text"/>
          <p:cNvSpPr txBox="1"/>
          <p:nvPr/>
        </p:nvSpPr>
        <p:spPr>
          <a:xfrm>
            <a:off x="3127248" y="2596896"/>
            <a:ext cx="5193792" cy="365760"/>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2000" b="1">
                <a:solidFill>
                  <a:srgbClr val="182C2A"/>
                </a:solidFill>
                <a:latin typeface="Arial"/>
                <a:ea typeface="Arial"/>
                <a:cs typeface="Arial"/>
              </a:rPr>
              <a:t>Team Name: Pollution Spotter</a:t>
            </a:r>
            <a:endParaRPr sz="2000"/>
          </a:p>
        </p:txBody>
      </p:sp>
      <p:sp>
        <p:nvSpPr>
          <p:cNvPr id="1002" name="text"/>
          <p:cNvSpPr txBox="1"/>
          <p:nvPr/>
        </p:nvSpPr>
        <p:spPr>
          <a:xfrm>
            <a:off x="3127248" y="3054096"/>
            <a:ext cx="5193792" cy="292608"/>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600" b="1">
                <a:solidFill>
                  <a:srgbClr val="182C2A"/>
                </a:solidFill>
                <a:latin typeface="Arial"/>
                <a:ea typeface="Arial"/>
                <a:cs typeface="Arial"/>
              </a:rPr>
              <a:t>Team Leader Name: Sharanya Mondal</a:t>
            </a:r>
            <a:endParaRPr sz="1600"/>
          </a:p>
        </p:txBody>
      </p:sp>
      <p:sp>
        <p:nvSpPr>
          <p:cNvPr id="1003" name="text"/>
          <p:cNvSpPr txBox="1"/>
          <p:nvPr/>
        </p:nvSpPr>
        <p:spPr>
          <a:xfrm>
            <a:off x="3127248" y="3511296"/>
            <a:ext cx="5193792" cy="201168"/>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050" b="1">
                <a:solidFill>
                  <a:srgbClr val="23665B"/>
                </a:solidFill>
                <a:latin typeface="Arial"/>
                <a:ea typeface="Arial"/>
                <a:cs typeface="Arial"/>
              </a:rPr>
              <a:t>PROBLEM STATEMENT</a:t>
            </a:r>
            <a:endParaRPr sz="1050"/>
          </a:p>
        </p:txBody>
      </p:sp>
      <p:sp>
        <p:nvSpPr>
          <p:cNvPr id="1004" name="text"/>
          <p:cNvSpPr txBox="1"/>
          <p:nvPr/>
        </p:nvSpPr>
        <p:spPr>
          <a:xfrm>
            <a:off x="3127248" y="3749040"/>
            <a:ext cx="5102352" cy="466344"/>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450" b="0" dirty="0">
                <a:solidFill>
                  <a:srgbClr val="182C2A"/>
                </a:solidFill>
                <a:latin typeface="Arial"/>
                <a:ea typeface="Arial"/>
                <a:cs typeface="Arial"/>
              </a:rPr>
              <a:t>Make visible pond and canal pollution easier to document and report.</a:t>
            </a:r>
            <a:endParaRPr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p:nvPr/>
        </p:nvSpPr>
        <p:spPr>
          <a:xfrm>
            <a:off x="0" y="0"/>
            <a:ext cx="9144000" cy="681600"/>
          </a:xfrm>
          <a:prstGeom prst="rect">
            <a:avLst/>
          </a:prstGeom>
          <a:solidFill>
            <a:srgbClr val="F572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3" name="Google Shape;63;p14" title="logo.png"/>
          <p:cNvPicPr preferRelativeResize="0"/>
          <p:nvPr/>
        </p:nvPicPr>
        <p:blipFill>
          <a:blip r:embed="rId3">
            <a:alphaModFix/>
          </a:blip>
          <a:stretch>
            <a:fillRect/>
          </a:stretch>
        </p:blipFill>
        <p:spPr>
          <a:xfrm>
            <a:off x="8108450" y="4107950"/>
            <a:ext cx="1035550" cy="1035550"/>
          </a:xfrm>
          <a:prstGeom prst="rect">
            <a:avLst/>
          </a:prstGeom>
          <a:noFill/>
          <a:ln>
            <a:noFill/>
          </a:ln>
        </p:spPr>
      </p:pic>
      <p:pic>
        <p:nvPicPr>
          <p:cNvPr id="64" name="Google Shape;64;p14" title="Untitled-1.png"/>
          <p:cNvPicPr preferRelativeResize="0"/>
          <p:nvPr/>
        </p:nvPicPr>
        <p:blipFill rotWithShape="1">
          <a:blip r:embed="rId4">
            <a:alphaModFix/>
          </a:blip>
          <a:srcRect t="38476" b="38474"/>
          <a:stretch/>
        </p:blipFill>
        <p:spPr>
          <a:xfrm>
            <a:off x="125275" y="112050"/>
            <a:ext cx="3528499" cy="457500"/>
          </a:xfrm>
          <a:prstGeom prst="rect">
            <a:avLst/>
          </a:prstGeom>
          <a:noFill/>
          <a:ln>
            <a:noFill/>
          </a:ln>
        </p:spPr>
      </p:pic>
      <p:pic>
        <p:nvPicPr>
          <p:cNvPr id="65" name="Google Shape;65;p14" title="logos.png"/>
          <p:cNvPicPr preferRelativeResize="0"/>
          <p:nvPr/>
        </p:nvPicPr>
        <p:blipFill rotWithShape="1">
          <a:blip r:embed="rId5">
            <a:alphaModFix/>
          </a:blip>
          <a:srcRect l="12521" t="31123" r="11641" b="31692"/>
          <a:stretch/>
        </p:blipFill>
        <p:spPr>
          <a:xfrm>
            <a:off x="7034550" y="84312"/>
            <a:ext cx="1859891" cy="512974"/>
          </a:xfrm>
          <a:prstGeom prst="rect">
            <a:avLst/>
          </a:prstGeom>
          <a:noFill/>
          <a:ln>
            <a:noFill/>
          </a:ln>
        </p:spPr>
      </p:pic>
      <p:sp>
        <p:nvSpPr>
          <p:cNvPr id="1000" name="official section title"/>
          <p:cNvSpPr txBox="1"/>
          <p:nvPr/>
        </p:nvSpPr>
        <p:spPr>
          <a:xfrm>
            <a:off x="457200" y="877824"/>
            <a:ext cx="8229600" cy="475488"/>
          </a:xfrm>
          <a:prstGeom prst="rect">
            <a:avLst/>
          </a:prstGeom>
          <a:noFill/>
          <a:ln>
            <a:noFill/>
          </a:ln>
        </p:spPr>
        <p:txBody>
          <a:bodyPr wrap="square" lIns="0" tIns="0" rIns="0" bIns="0" anchor="t">
            <a:noAutofit/>
          </a:bodyPr>
          <a:lstStyle/>
          <a:p>
            <a:pPr marL="0" indent="0" algn="ctr">
              <a:lnSpc>
                <a:spcPct val="110000"/>
              </a:lnSpc>
              <a:spcAft>
                <a:spcPts val="0"/>
              </a:spcAft>
              <a:buNone/>
            </a:pPr>
            <a:r>
              <a:rPr lang="en-US" sz="2400" b="1">
                <a:solidFill>
                  <a:srgbClr val="111111"/>
                </a:solidFill>
                <a:latin typeface="Arial"/>
                <a:ea typeface="Arial"/>
                <a:cs typeface="Arial"/>
              </a:rPr>
              <a:t>PROPOSED SOLUTION</a:t>
            </a:r>
            <a:endParaRPr sz="2400"/>
          </a:p>
        </p:txBody>
      </p:sp>
      <p:sp>
        <p:nvSpPr>
          <p:cNvPr id="1001" name="project footer"/>
          <p:cNvSpPr txBox="1"/>
          <p:nvPr/>
        </p:nvSpPr>
        <p:spPr>
          <a:xfrm>
            <a:off x="548640" y="4690872"/>
            <a:ext cx="7223760" cy="201168"/>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850" b="0">
                <a:solidFill>
                  <a:srgbClr val="52635F"/>
                </a:solidFill>
                <a:latin typeface="Arial"/>
                <a:ea typeface="Arial"/>
                <a:cs typeface="Arial"/>
              </a:rPr>
              <a:t>POLLUTION SPOTTER  |  AKI HACKS 2026  |  PROPOSED MVP     2/6</a:t>
            </a:r>
            <a:endParaRPr sz="850"/>
          </a:p>
        </p:txBody>
      </p:sp>
      <p:sp>
        <p:nvSpPr>
          <p:cNvPr id="1002" name="text"/>
          <p:cNvSpPr txBox="1"/>
          <p:nvPr/>
        </p:nvSpPr>
        <p:spPr>
          <a:xfrm>
            <a:off x="548640" y="1618488"/>
            <a:ext cx="3611880" cy="365760"/>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2100" b="1">
                <a:solidFill>
                  <a:srgbClr val="182C2A"/>
                </a:solidFill>
                <a:latin typeface="Arial"/>
                <a:ea typeface="Arial"/>
                <a:cs typeface="Arial"/>
              </a:rPr>
              <a:t>The reporting gap</a:t>
            </a:r>
            <a:endParaRPr sz="2100"/>
          </a:p>
        </p:txBody>
      </p:sp>
      <p:sp>
        <p:nvSpPr>
          <p:cNvPr id="1003" name="text"/>
          <p:cNvSpPr txBox="1"/>
          <p:nvPr/>
        </p:nvSpPr>
        <p:spPr>
          <a:xfrm>
            <a:off x="548640" y="2148840"/>
            <a:ext cx="3584448" cy="832104"/>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700" b="0">
                <a:solidFill>
                  <a:srgbClr val="182C2A"/>
                </a:solidFill>
                <a:latin typeface="Arial"/>
                <a:ea typeface="Arial"/>
                <a:cs typeface="Arial"/>
              </a:rPr>
              <a:t>Residents can see floating waste or discoloured water, but a photo alone lacks a clear reporting path.</a:t>
            </a:r>
            <a:endParaRPr sz="1700"/>
          </a:p>
        </p:txBody>
      </p:sp>
      <p:sp>
        <p:nvSpPr>
          <p:cNvPr id="1004" name="text"/>
          <p:cNvSpPr txBox="1"/>
          <p:nvPr/>
        </p:nvSpPr>
        <p:spPr>
          <a:xfrm>
            <a:off x="548640" y="3172968"/>
            <a:ext cx="3584448" cy="640080"/>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500" b="0">
                <a:solidFill>
                  <a:srgbClr val="52635F"/>
                </a:solidFill>
                <a:latin typeface="Arial"/>
                <a:ea typeface="Arial"/>
                <a:cs typeface="Arial"/>
              </a:rPr>
              <a:t>Location, reviewed observations and a usable complaint need to stay together.</a:t>
            </a:r>
            <a:endParaRPr sz="1500"/>
          </a:p>
        </p:txBody>
      </p:sp>
      <p:sp>
        <p:nvSpPr>
          <p:cNvPr id="1005" name="text"/>
          <p:cNvSpPr txBox="1"/>
          <p:nvPr/>
        </p:nvSpPr>
        <p:spPr>
          <a:xfrm>
            <a:off x="548640" y="4032504"/>
            <a:ext cx="3584448" cy="457200"/>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250" b="1">
                <a:solidFill>
                  <a:srgbClr val="23665B"/>
                </a:solidFill>
                <a:latin typeface="Arial"/>
                <a:ea typeface="Arial"/>
                <a:cs typeface="Arial"/>
              </a:rPr>
              <a:t>For residents, student volunteers and local community groups.</a:t>
            </a:r>
            <a:endParaRPr sz="1250"/>
          </a:p>
        </p:txBody>
      </p:sp>
      <p:sp>
        <p:nvSpPr>
          <p:cNvPr id="1006" name="proposed solution panel"/>
          <p:cNvSpPr txBox="1"/>
          <p:nvPr/>
        </p:nvSpPr>
        <p:spPr>
          <a:xfrm>
            <a:off x="4526280" y="1627632"/>
            <a:ext cx="4050792" cy="2688336"/>
          </a:xfrm>
          <a:prstGeom prst="roundRect">
            <a:avLst/>
          </a:prstGeom>
          <a:solidFill>
            <a:srgbClr val="EDF5F1"/>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07" name="text"/>
          <p:cNvSpPr txBox="1"/>
          <p:nvPr/>
        </p:nvSpPr>
        <p:spPr>
          <a:xfrm>
            <a:off x="4754880" y="1819656"/>
            <a:ext cx="3602736" cy="393192"/>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900" b="1">
                <a:solidFill>
                  <a:srgbClr val="182C2A"/>
                </a:solidFill>
                <a:latin typeface="Arial"/>
                <a:ea typeface="Arial"/>
                <a:cs typeface="Arial"/>
              </a:rPr>
              <a:t>One guided reporting flow</a:t>
            </a:r>
            <a:endParaRPr sz="1900"/>
          </a:p>
        </p:txBody>
      </p:sp>
      <p:sp>
        <p:nvSpPr>
          <p:cNvPr id="1008" name="text"/>
          <p:cNvSpPr txBox="1"/>
          <p:nvPr/>
        </p:nvSpPr>
        <p:spPr>
          <a:xfrm>
            <a:off x="4764024" y="2386584"/>
            <a:ext cx="384048" cy="274320"/>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500" b="1">
                <a:solidFill>
                  <a:srgbClr val="23665B"/>
                </a:solidFill>
                <a:latin typeface="Arial"/>
                <a:ea typeface="Arial"/>
                <a:cs typeface="Arial"/>
              </a:rPr>
              <a:t>01</a:t>
            </a:r>
            <a:endParaRPr sz="1500"/>
          </a:p>
        </p:txBody>
      </p:sp>
      <p:sp>
        <p:nvSpPr>
          <p:cNvPr id="1009" name="text"/>
          <p:cNvSpPr txBox="1"/>
          <p:nvPr/>
        </p:nvSpPr>
        <p:spPr>
          <a:xfrm>
            <a:off x="5266944" y="2368296"/>
            <a:ext cx="3035808" cy="265176"/>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500" b="1">
                <a:solidFill>
                  <a:srgbClr val="182C2A"/>
                </a:solidFill>
                <a:latin typeface="Arial"/>
                <a:ea typeface="Arial"/>
                <a:cs typeface="Arial"/>
              </a:rPr>
              <a:t>Capture</a:t>
            </a:r>
            <a:endParaRPr sz="1500"/>
          </a:p>
        </p:txBody>
      </p:sp>
      <p:sp>
        <p:nvSpPr>
          <p:cNvPr id="1010" name="text"/>
          <p:cNvSpPr txBox="1"/>
          <p:nvPr/>
        </p:nvSpPr>
        <p:spPr>
          <a:xfrm>
            <a:off x="5266944" y="2642616"/>
            <a:ext cx="3008376" cy="310896"/>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150" b="0">
                <a:solidFill>
                  <a:srgbClr val="52635F"/>
                </a:solidFill>
                <a:latin typeface="Arial"/>
                <a:ea typeface="Arial"/>
                <a:cs typeface="Arial"/>
              </a:rPr>
              <a:t>Add a photo and confirm its location.</a:t>
            </a:r>
            <a:endParaRPr sz="1150"/>
          </a:p>
        </p:txBody>
      </p:sp>
      <p:sp>
        <p:nvSpPr>
          <p:cNvPr id="1011" name="text"/>
          <p:cNvSpPr txBox="1"/>
          <p:nvPr/>
        </p:nvSpPr>
        <p:spPr>
          <a:xfrm>
            <a:off x="4764024" y="2962656"/>
            <a:ext cx="384048" cy="274320"/>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500" b="1">
                <a:solidFill>
                  <a:srgbClr val="23665B"/>
                </a:solidFill>
                <a:latin typeface="Arial"/>
                <a:ea typeface="Arial"/>
                <a:cs typeface="Arial"/>
              </a:rPr>
              <a:t>02</a:t>
            </a:r>
            <a:endParaRPr sz="1500"/>
          </a:p>
        </p:txBody>
      </p:sp>
      <p:sp>
        <p:nvSpPr>
          <p:cNvPr id="1012" name="text"/>
          <p:cNvSpPr txBox="1"/>
          <p:nvPr/>
        </p:nvSpPr>
        <p:spPr>
          <a:xfrm>
            <a:off x="5266944" y="2944368"/>
            <a:ext cx="3035808" cy="265176"/>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500" b="1">
                <a:solidFill>
                  <a:srgbClr val="182C2A"/>
                </a:solidFill>
                <a:latin typeface="Arial"/>
                <a:ea typeface="Arial"/>
                <a:cs typeface="Arial"/>
              </a:rPr>
              <a:t>Review</a:t>
            </a:r>
            <a:endParaRPr sz="1500"/>
          </a:p>
        </p:txBody>
      </p:sp>
      <p:sp>
        <p:nvSpPr>
          <p:cNvPr id="1013" name="text"/>
          <p:cNvSpPr txBox="1"/>
          <p:nvPr/>
        </p:nvSpPr>
        <p:spPr>
          <a:xfrm>
            <a:off x="5266944" y="3218688"/>
            <a:ext cx="3008376" cy="310896"/>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150" b="0">
                <a:solidFill>
                  <a:srgbClr val="52635F"/>
                </a:solidFill>
                <a:latin typeface="Arial"/>
                <a:ea typeface="Arial"/>
                <a:cs typeface="Arial"/>
              </a:rPr>
              <a:t>Correct the suggested labels and description.</a:t>
            </a:r>
            <a:endParaRPr sz="1150"/>
          </a:p>
        </p:txBody>
      </p:sp>
      <p:sp>
        <p:nvSpPr>
          <p:cNvPr id="1014" name="text"/>
          <p:cNvSpPr txBox="1"/>
          <p:nvPr/>
        </p:nvSpPr>
        <p:spPr>
          <a:xfrm>
            <a:off x="4764024" y="3538728"/>
            <a:ext cx="384048" cy="274320"/>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500" b="1">
                <a:solidFill>
                  <a:srgbClr val="23665B"/>
                </a:solidFill>
                <a:latin typeface="Arial"/>
                <a:ea typeface="Arial"/>
                <a:cs typeface="Arial"/>
              </a:rPr>
              <a:t>03</a:t>
            </a:r>
            <a:endParaRPr sz="1500"/>
          </a:p>
        </p:txBody>
      </p:sp>
      <p:sp>
        <p:nvSpPr>
          <p:cNvPr id="1015" name="text"/>
          <p:cNvSpPr txBox="1"/>
          <p:nvPr/>
        </p:nvSpPr>
        <p:spPr>
          <a:xfrm>
            <a:off x="5266944" y="3520440"/>
            <a:ext cx="3035808" cy="265176"/>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500" b="1">
                <a:solidFill>
                  <a:srgbClr val="182C2A"/>
                </a:solidFill>
                <a:latin typeface="Arial"/>
                <a:ea typeface="Arial"/>
                <a:cs typeface="Arial"/>
              </a:rPr>
              <a:t>Act</a:t>
            </a:r>
            <a:endParaRPr sz="1500"/>
          </a:p>
        </p:txBody>
      </p:sp>
      <p:sp>
        <p:nvSpPr>
          <p:cNvPr id="1016" name="text"/>
          <p:cNvSpPr txBox="1"/>
          <p:nvPr/>
        </p:nvSpPr>
        <p:spPr>
          <a:xfrm>
            <a:off x="5266944" y="3794760"/>
            <a:ext cx="3008376" cy="310896"/>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150" b="0">
                <a:solidFill>
                  <a:srgbClr val="52635F"/>
                </a:solidFill>
                <a:latin typeface="Arial"/>
                <a:ea typeface="Arial"/>
                <a:cs typeface="Arial"/>
              </a:rPr>
              <a:t>Publish a map report; copy a complaint draft.</a:t>
            </a:r>
            <a:endParaRPr sz="11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5"/>
          <p:cNvSpPr/>
          <p:nvPr/>
        </p:nvSpPr>
        <p:spPr>
          <a:xfrm>
            <a:off x="0" y="0"/>
            <a:ext cx="9144000" cy="681600"/>
          </a:xfrm>
          <a:prstGeom prst="rect">
            <a:avLst/>
          </a:prstGeom>
          <a:solidFill>
            <a:srgbClr val="F572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73" name="Google Shape;73;p15" title="logo.png"/>
          <p:cNvPicPr preferRelativeResize="0"/>
          <p:nvPr/>
        </p:nvPicPr>
        <p:blipFill>
          <a:blip r:embed="rId3">
            <a:alphaModFix/>
          </a:blip>
          <a:stretch>
            <a:fillRect/>
          </a:stretch>
        </p:blipFill>
        <p:spPr>
          <a:xfrm>
            <a:off x="8108450" y="4107950"/>
            <a:ext cx="1035550" cy="1035550"/>
          </a:xfrm>
          <a:prstGeom prst="rect">
            <a:avLst/>
          </a:prstGeom>
          <a:noFill/>
          <a:ln>
            <a:noFill/>
          </a:ln>
        </p:spPr>
      </p:pic>
      <p:pic>
        <p:nvPicPr>
          <p:cNvPr id="74" name="Google Shape;74;p15" title="Untitled-1.png"/>
          <p:cNvPicPr preferRelativeResize="0"/>
          <p:nvPr/>
        </p:nvPicPr>
        <p:blipFill rotWithShape="1">
          <a:blip r:embed="rId4">
            <a:alphaModFix/>
          </a:blip>
          <a:srcRect t="38476" b="38474"/>
          <a:stretch/>
        </p:blipFill>
        <p:spPr>
          <a:xfrm>
            <a:off x="125275" y="112050"/>
            <a:ext cx="3528499" cy="457500"/>
          </a:xfrm>
          <a:prstGeom prst="rect">
            <a:avLst/>
          </a:prstGeom>
          <a:noFill/>
          <a:ln>
            <a:noFill/>
          </a:ln>
        </p:spPr>
      </p:pic>
      <p:pic>
        <p:nvPicPr>
          <p:cNvPr id="75" name="Google Shape;75;p15" title="logos.png"/>
          <p:cNvPicPr preferRelativeResize="0"/>
          <p:nvPr/>
        </p:nvPicPr>
        <p:blipFill rotWithShape="1">
          <a:blip r:embed="rId5">
            <a:alphaModFix/>
          </a:blip>
          <a:srcRect l="12521" t="31123" r="11641" b="31692"/>
          <a:stretch/>
        </p:blipFill>
        <p:spPr>
          <a:xfrm>
            <a:off x="7034550" y="84312"/>
            <a:ext cx="1859891" cy="512974"/>
          </a:xfrm>
          <a:prstGeom prst="rect">
            <a:avLst/>
          </a:prstGeom>
          <a:noFill/>
          <a:ln>
            <a:noFill/>
          </a:ln>
        </p:spPr>
      </p:pic>
      <p:sp>
        <p:nvSpPr>
          <p:cNvPr id="1000" name="official section title"/>
          <p:cNvSpPr txBox="1"/>
          <p:nvPr/>
        </p:nvSpPr>
        <p:spPr>
          <a:xfrm>
            <a:off x="457200" y="877824"/>
            <a:ext cx="8229600" cy="475488"/>
          </a:xfrm>
          <a:prstGeom prst="rect">
            <a:avLst/>
          </a:prstGeom>
          <a:noFill/>
          <a:ln>
            <a:noFill/>
          </a:ln>
        </p:spPr>
        <p:txBody>
          <a:bodyPr wrap="square" lIns="0" tIns="0" rIns="0" bIns="0" anchor="t">
            <a:noAutofit/>
          </a:bodyPr>
          <a:lstStyle/>
          <a:p>
            <a:pPr marL="0" indent="0" algn="ctr">
              <a:lnSpc>
                <a:spcPct val="110000"/>
              </a:lnSpc>
              <a:spcAft>
                <a:spcPts val="0"/>
              </a:spcAft>
              <a:buNone/>
            </a:pPr>
            <a:r>
              <a:rPr lang="en-US" sz="2400" b="1">
                <a:solidFill>
                  <a:srgbClr val="111111"/>
                </a:solidFill>
                <a:latin typeface="Arial"/>
                <a:ea typeface="Arial"/>
                <a:cs typeface="Arial"/>
              </a:rPr>
              <a:t>USER FLOW / WORKING</a:t>
            </a:r>
            <a:endParaRPr sz="2400"/>
          </a:p>
        </p:txBody>
      </p:sp>
      <p:sp>
        <p:nvSpPr>
          <p:cNvPr id="1001" name="project footer"/>
          <p:cNvSpPr txBox="1"/>
          <p:nvPr/>
        </p:nvSpPr>
        <p:spPr>
          <a:xfrm>
            <a:off x="548640" y="4690872"/>
            <a:ext cx="7223760" cy="201168"/>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850" b="0">
                <a:solidFill>
                  <a:srgbClr val="52635F"/>
                </a:solidFill>
                <a:latin typeface="Arial"/>
                <a:ea typeface="Arial"/>
                <a:cs typeface="Arial"/>
              </a:rPr>
              <a:t>POLLUTION SPOTTER  |  AKI HACKS 2026  |  PROPOSED MVP     3/6</a:t>
            </a:r>
            <a:endParaRPr sz="850"/>
          </a:p>
        </p:txBody>
      </p:sp>
      <p:sp>
        <p:nvSpPr>
          <p:cNvPr id="1002" name="step 1 panel"/>
          <p:cNvSpPr txBox="1"/>
          <p:nvPr/>
        </p:nvSpPr>
        <p:spPr>
          <a:xfrm>
            <a:off x="548640" y="1728216"/>
            <a:ext cx="2322576" cy="1033272"/>
          </a:xfrm>
          <a:prstGeom prst="roundRect">
            <a:avLst/>
          </a:prstGeom>
          <a:solidFill>
            <a:srgbClr val="EDF5F1"/>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03" name="text"/>
          <p:cNvSpPr txBox="1"/>
          <p:nvPr/>
        </p:nvSpPr>
        <p:spPr>
          <a:xfrm>
            <a:off x="676656" y="1837944"/>
            <a:ext cx="228600" cy="246888"/>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400" b="1">
                <a:solidFill>
                  <a:srgbClr val="23665B"/>
                </a:solidFill>
                <a:latin typeface="Arial"/>
                <a:ea typeface="Arial"/>
                <a:cs typeface="Arial"/>
              </a:rPr>
              <a:t>1</a:t>
            </a:r>
            <a:endParaRPr sz="1400"/>
          </a:p>
        </p:txBody>
      </p:sp>
      <p:sp>
        <p:nvSpPr>
          <p:cNvPr id="1004" name="text"/>
          <p:cNvSpPr txBox="1"/>
          <p:nvPr/>
        </p:nvSpPr>
        <p:spPr>
          <a:xfrm>
            <a:off x="987552" y="1828800"/>
            <a:ext cx="1783080" cy="256032"/>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350" b="1">
                <a:solidFill>
                  <a:srgbClr val="182C2A"/>
                </a:solidFill>
                <a:latin typeface="Arial"/>
                <a:ea typeface="Arial"/>
                <a:cs typeface="Arial"/>
              </a:rPr>
              <a:t>Add a photo</a:t>
            </a:r>
            <a:endParaRPr sz="1350"/>
          </a:p>
        </p:txBody>
      </p:sp>
      <p:sp>
        <p:nvSpPr>
          <p:cNvPr id="1005" name="text"/>
          <p:cNvSpPr txBox="1"/>
          <p:nvPr/>
        </p:nvSpPr>
        <p:spPr>
          <a:xfrm>
            <a:off x="694944" y="2203704"/>
            <a:ext cx="2029968" cy="484632"/>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200" b="0">
                <a:solidFill>
                  <a:srgbClr val="52635F"/>
                </a:solidFill>
                <a:latin typeface="Arial"/>
                <a:ea typeface="Arial"/>
                <a:cs typeface="Arial"/>
              </a:rPr>
              <a:t>JPEG, PNG or WebP</a:t>
            </a:r>
            <a:endParaRPr sz="1200"/>
          </a:p>
          <a:p>
            <a:pPr marL="0" indent="0" algn="l">
              <a:lnSpc>
                <a:spcPct val="110000"/>
              </a:lnSpc>
              <a:spcAft>
                <a:spcPts val="0"/>
              </a:spcAft>
              <a:buNone/>
            </a:pPr>
            <a:r>
              <a:rPr lang="en-US" sz="1200" b="0">
                <a:solidFill>
                  <a:srgbClr val="52635F"/>
                </a:solidFill>
                <a:latin typeface="Arial"/>
                <a:ea typeface="Arial"/>
                <a:cs typeface="Arial"/>
              </a:rPr>
              <a:t>Up to 3 MB</a:t>
            </a:r>
            <a:endParaRPr sz="1200"/>
          </a:p>
        </p:txBody>
      </p:sp>
      <p:sp>
        <p:nvSpPr>
          <p:cNvPr id="1006" name="step 2 panel"/>
          <p:cNvSpPr txBox="1"/>
          <p:nvPr/>
        </p:nvSpPr>
        <p:spPr>
          <a:xfrm>
            <a:off x="3410712" y="1728216"/>
            <a:ext cx="2322576" cy="1033272"/>
          </a:xfrm>
          <a:prstGeom prst="roundRect">
            <a:avLst/>
          </a:prstGeom>
          <a:solidFill>
            <a:srgbClr val="EDF5F1"/>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07" name="text"/>
          <p:cNvSpPr txBox="1"/>
          <p:nvPr/>
        </p:nvSpPr>
        <p:spPr>
          <a:xfrm>
            <a:off x="3538728" y="1837944"/>
            <a:ext cx="228600" cy="246888"/>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400" b="1">
                <a:solidFill>
                  <a:srgbClr val="23665B"/>
                </a:solidFill>
                <a:latin typeface="Arial"/>
                <a:ea typeface="Arial"/>
                <a:cs typeface="Arial"/>
              </a:rPr>
              <a:t>2</a:t>
            </a:r>
            <a:endParaRPr sz="1400"/>
          </a:p>
        </p:txBody>
      </p:sp>
      <p:sp>
        <p:nvSpPr>
          <p:cNvPr id="1008" name="text"/>
          <p:cNvSpPr txBox="1"/>
          <p:nvPr/>
        </p:nvSpPr>
        <p:spPr>
          <a:xfrm>
            <a:off x="3849624" y="1828800"/>
            <a:ext cx="1783080" cy="256032"/>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350" b="1">
                <a:solidFill>
                  <a:srgbClr val="182C2A"/>
                </a:solidFill>
                <a:latin typeface="Arial"/>
                <a:ea typeface="Arial"/>
                <a:cs typeface="Arial"/>
              </a:rPr>
              <a:t>Confirm location</a:t>
            </a:r>
            <a:endParaRPr sz="1350"/>
          </a:p>
        </p:txBody>
      </p:sp>
      <p:sp>
        <p:nvSpPr>
          <p:cNvPr id="1009" name="text"/>
          <p:cNvSpPr txBox="1"/>
          <p:nvPr/>
        </p:nvSpPr>
        <p:spPr>
          <a:xfrm>
            <a:off x="3557016" y="2203704"/>
            <a:ext cx="2029968" cy="484632"/>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200" b="0">
                <a:solidFill>
                  <a:srgbClr val="52635F"/>
                </a:solidFill>
                <a:latin typeface="Arial"/>
                <a:ea typeface="Arial"/>
                <a:cs typeface="Arial"/>
              </a:rPr>
              <a:t>Use a map pin or</a:t>
            </a:r>
            <a:endParaRPr sz="1200"/>
          </a:p>
          <a:p>
            <a:pPr marL="0" indent="0" algn="l">
              <a:lnSpc>
                <a:spcPct val="110000"/>
              </a:lnSpc>
              <a:spcAft>
                <a:spcPts val="0"/>
              </a:spcAft>
              <a:buNone/>
            </a:pPr>
            <a:r>
              <a:rPr lang="en-US" sz="1200" b="0">
                <a:solidFill>
                  <a:srgbClr val="52635F"/>
                </a:solidFill>
                <a:latin typeface="Arial"/>
                <a:ea typeface="Arial"/>
                <a:cs typeface="Arial"/>
              </a:rPr>
              <a:t>optional GPS</a:t>
            </a:r>
            <a:endParaRPr sz="1200"/>
          </a:p>
        </p:txBody>
      </p:sp>
      <p:sp>
        <p:nvSpPr>
          <p:cNvPr id="1010" name="step 3 panel"/>
          <p:cNvSpPr txBox="1"/>
          <p:nvPr/>
        </p:nvSpPr>
        <p:spPr>
          <a:xfrm>
            <a:off x="6272784" y="1728216"/>
            <a:ext cx="2322576" cy="1033272"/>
          </a:xfrm>
          <a:prstGeom prst="roundRect">
            <a:avLst/>
          </a:prstGeom>
          <a:solidFill>
            <a:srgbClr val="EDF5F1"/>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11" name="text"/>
          <p:cNvSpPr txBox="1"/>
          <p:nvPr/>
        </p:nvSpPr>
        <p:spPr>
          <a:xfrm>
            <a:off x="6400800" y="1837944"/>
            <a:ext cx="228600" cy="246888"/>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400" b="1">
                <a:solidFill>
                  <a:srgbClr val="23665B"/>
                </a:solidFill>
                <a:latin typeface="Arial"/>
                <a:ea typeface="Arial"/>
                <a:cs typeface="Arial"/>
              </a:rPr>
              <a:t>3</a:t>
            </a:r>
            <a:endParaRPr sz="1400"/>
          </a:p>
        </p:txBody>
      </p:sp>
      <p:sp>
        <p:nvSpPr>
          <p:cNvPr id="1012" name="text"/>
          <p:cNvSpPr txBox="1"/>
          <p:nvPr/>
        </p:nvSpPr>
        <p:spPr>
          <a:xfrm>
            <a:off x="6711696" y="1828800"/>
            <a:ext cx="1783080" cy="256032"/>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350" b="1">
                <a:solidFill>
                  <a:srgbClr val="182C2A"/>
                </a:solidFill>
                <a:latin typeface="Arial"/>
                <a:ea typeface="Arial"/>
                <a:cs typeface="Arial"/>
              </a:rPr>
              <a:t>Get suggestions</a:t>
            </a:r>
            <a:endParaRPr sz="1350"/>
          </a:p>
        </p:txBody>
      </p:sp>
      <p:sp>
        <p:nvSpPr>
          <p:cNvPr id="1013" name="text"/>
          <p:cNvSpPr txBox="1"/>
          <p:nvPr/>
        </p:nvSpPr>
        <p:spPr>
          <a:xfrm>
            <a:off x="6419088" y="2203704"/>
            <a:ext cx="2029968" cy="484632"/>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200" b="0">
                <a:solidFill>
                  <a:srgbClr val="52635F"/>
                </a:solidFill>
                <a:latin typeface="Arial"/>
                <a:ea typeface="Arial"/>
                <a:cs typeface="Arial"/>
              </a:rPr>
              <a:t>Gemini, or a clearly</a:t>
            </a:r>
            <a:endParaRPr sz="1200"/>
          </a:p>
          <a:p>
            <a:pPr marL="0" indent="0" algn="l">
              <a:lnSpc>
                <a:spcPct val="110000"/>
              </a:lnSpc>
              <a:spcAft>
                <a:spcPts val="0"/>
              </a:spcAft>
              <a:buNone/>
            </a:pPr>
            <a:r>
              <a:rPr lang="en-US" sz="1200" b="0">
                <a:solidFill>
                  <a:srgbClr val="52635F"/>
                </a:solidFill>
                <a:latin typeface="Arial"/>
                <a:ea typeface="Arial"/>
                <a:cs typeface="Arial"/>
              </a:rPr>
              <a:t>labeled manual path</a:t>
            </a:r>
            <a:endParaRPr sz="1200"/>
          </a:p>
        </p:txBody>
      </p:sp>
      <p:sp>
        <p:nvSpPr>
          <p:cNvPr id="1014" name="step 4 panel"/>
          <p:cNvSpPr txBox="1"/>
          <p:nvPr/>
        </p:nvSpPr>
        <p:spPr>
          <a:xfrm>
            <a:off x="6272784" y="3236976"/>
            <a:ext cx="2322576" cy="1033272"/>
          </a:xfrm>
          <a:prstGeom prst="roundRect">
            <a:avLst/>
          </a:prstGeom>
          <a:solidFill>
            <a:srgbClr val="FDECE4"/>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15" name="text"/>
          <p:cNvSpPr txBox="1"/>
          <p:nvPr/>
        </p:nvSpPr>
        <p:spPr>
          <a:xfrm>
            <a:off x="6400800" y="3346704"/>
            <a:ext cx="228600" cy="246888"/>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400" b="1">
                <a:solidFill>
                  <a:srgbClr val="23665B"/>
                </a:solidFill>
                <a:latin typeface="Arial"/>
                <a:ea typeface="Arial"/>
                <a:cs typeface="Arial"/>
              </a:rPr>
              <a:t>4</a:t>
            </a:r>
            <a:endParaRPr sz="1400"/>
          </a:p>
        </p:txBody>
      </p:sp>
      <p:sp>
        <p:nvSpPr>
          <p:cNvPr id="1016" name="text"/>
          <p:cNvSpPr txBox="1"/>
          <p:nvPr/>
        </p:nvSpPr>
        <p:spPr>
          <a:xfrm>
            <a:off x="6711696" y="3337560"/>
            <a:ext cx="1783080" cy="256032"/>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350" b="1">
                <a:solidFill>
                  <a:srgbClr val="182C2A"/>
                </a:solidFill>
                <a:latin typeface="Arial"/>
                <a:ea typeface="Arial"/>
                <a:cs typeface="Arial"/>
              </a:rPr>
              <a:t>Review &amp; publish</a:t>
            </a:r>
            <a:endParaRPr sz="1350"/>
          </a:p>
        </p:txBody>
      </p:sp>
      <p:sp>
        <p:nvSpPr>
          <p:cNvPr id="1017" name="text"/>
          <p:cNvSpPr txBox="1"/>
          <p:nvPr/>
        </p:nvSpPr>
        <p:spPr>
          <a:xfrm>
            <a:off x="6419088" y="3712464"/>
            <a:ext cx="2029968" cy="484632"/>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200" b="0">
                <a:solidFill>
                  <a:srgbClr val="52635F"/>
                </a:solidFill>
                <a:latin typeface="Arial"/>
                <a:ea typeface="Arial"/>
                <a:cs typeface="Arial"/>
              </a:rPr>
              <a:t>Edit labels and text;</a:t>
            </a:r>
            <a:endParaRPr sz="1200"/>
          </a:p>
          <a:p>
            <a:pPr marL="0" indent="0" algn="l">
              <a:lnSpc>
                <a:spcPct val="110000"/>
              </a:lnSpc>
              <a:spcAft>
                <a:spcPts val="0"/>
              </a:spcAft>
              <a:buNone/>
            </a:pPr>
            <a:r>
              <a:rPr lang="en-US" sz="1200" b="0">
                <a:solidFill>
                  <a:srgbClr val="52635F"/>
                </a:solidFill>
                <a:latin typeface="Arial"/>
                <a:ea typeface="Arial"/>
                <a:cs typeface="Arial"/>
              </a:rPr>
              <a:t>explicitly confirm</a:t>
            </a:r>
            <a:endParaRPr sz="1200"/>
          </a:p>
        </p:txBody>
      </p:sp>
      <p:sp>
        <p:nvSpPr>
          <p:cNvPr id="1018" name="step 5 panel"/>
          <p:cNvSpPr txBox="1"/>
          <p:nvPr/>
        </p:nvSpPr>
        <p:spPr>
          <a:xfrm>
            <a:off x="3410712" y="3236976"/>
            <a:ext cx="2322576" cy="1033272"/>
          </a:xfrm>
          <a:prstGeom prst="roundRect">
            <a:avLst/>
          </a:prstGeom>
          <a:solidFill>
            <a:srgbClr val="EDF5F1"/>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19" name="text"/>
          <p:cNvSpPr txBox="1"/>
          <p:nvPr/>
        </p:nvSpPr>
        <p:spPr>
          <a:xfrm>
            <a:off x="3538728" y="3346704"/>
            <a:ext cx="228600" cy="246888"/>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400" b="1">
                <a:solidFill>
                  <a:srgbClr val="23665B"/>
                </a:solidFill>
                <a:latin typeface="Arial"/>
                <a:ea typeface="Arial"/>
                <a:cs typeface="Arial"/>
              </a:rPr>
              <a:t>5</a:t>
            </a:r>
            <a:endParaRPr sz="1400"/>
          </a:p>
        </p:txBody>
      </p:sp>
      <p:sp>
        <p:nvSpPr>
          <p:cNvPr id="1020" name="text"/>
          <p:cNvSpPr txBox="1"/>
          <p:nvPr/>
        </p:nvSpPr>
        <p:spPr>
          <a:xfrm>
            <a:off x="3849624" y="3337560"/>
            <a:ext cx="1783080" cy="256032"/>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350" b="1">
                <a:solidFill>
                  <a:srgbClr val="182C2A"/>
                </a:solidFill>
                <a:latin typeface="Arial"/>
                <a:ea typeface="Arial"/>
                <a:cs typeface="Arial"/>
              </a:rPr>
              <a:t>View the map</a:t>
            </a:r>
            <a:endParaRPr sz="1350"/>
          </a:p>
        </p:txBody>
      </p:sp>
      <p:sp>
        <p:nvSpPr>
          <p:cNvPr id="1021" name="text"/>
          <p:cNvSpPr txBox="1"/>
          <p:nvPr/>
        </p:nvSpPr>
        <p:spPr>
          <a:xfrm>
            <a:off x="3557016" y="3712464"/>
            <a:ext cx="2029968" cy="484632"/>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200" b="0">
                <a:solidFill>
                  <a:srgbClr val="52635F"/>
                </a:solidFill>
                <a:latin typeface="Arial"/>
                <a:ea typeface="Arial"/>
                <a:cs typeface="Arial"/>
              </a:rPr>
              <a:t>Reviewed details only;</a:t>
            </a:r>
            <a:endParaRPr sz="1200"/>
          </a:p>
          <a:p>
            <a:pPr marL="0" indent="0" algn="l">
              <a:lnSpc>
                <a:spcPct val="110000"/>
              </a:lnSpc>
              <a:spcAft>
                <a:spcPts val="0"/>
              </a:spcAft>
              <a:buNone/>
            </a:pPr>
            <a:r>
              <a:rPr lang="en-US" sz="1200" b="0">
                <a:solidFill>
                  <a:srgbClr val="52635F"/>
                </a:solidFill>
                <a:latin typeface="Arial"/>
                <a:ea typeface="Arial"/>
                <a:cs typeface="Arial"/>
              </a:rPr>
              <a:t>photos stay private</a:t>
            </a:r>
            <a:endParaRPr sz="1200"/>
          </a:p>
        </p:txBody>
      </p:sp>
      <p:sp>
        <p:nvSpPr>
          <p:cNvPr id="1022" name="step 6 panel"/>
          <p:cNvSpPr txBox="1"/>
          <p:nvPr/>
        </p:nvSpPr>
        <p:spPr>
          <a:xfrm>
            <a:off x="548640" y="3236976"/>
            <a:ext cx="2322576" cy="1033272"/>
          </a:xfrm>
          <a:prstGeom prst="roundRect">
            <a:avLst/>
          </a:prstGeom>
          <a:solidFill>
            <a:srgbClr val="EDF5F1"/>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23" name="text"/>
          <p:cNvSpPr txBox="1"/>
          <p:nvPr/>
        </p:nvSpPr>
        <p:spPr>
          <a:xfrm>
            <a:off x="676656" y="3346704"/>
            <a:ext cx="228600" cy="246888"/>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400" b="1">
                <a:solidFill>
                  <a:srgbClr val="23665B"/>
                </a:solidFill>
                <a:latin typeface="Arial"/>
                <a:ea typeface="Arial"/>
                <a:cs typeface="Arial"/>
              </a:rPr>
              <a:t>6</a:t>
            </a:r>
            <a:endParaRPr sz="1400"/>
          </a:p>
        </p:txBody>
      </p:sp>
      <p:sp>
        <p:nvSpPr>
          <p:cNvPr id="1024" name="text"/>
          <p:cNvSpPr txBox="1"/>
          <p:nvPr/>
        </p:nvSpPr>
        <p:spPr>
          <a:xfrm>
            <a:off x="987552" y="3337560"/>
            <a:ext cx="1783080" cy="256032"/>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350" b="1">
                <a:solidFill>
                  <a:srgbClr val="182C2A"/>
                </a:solidFill>
                <a:latin typeface="Arial"/>
                <a:ea typeface="Arial"/>
                <a:cs typeface="Arial"/>
              </a:rPr>
              <a:t>Copy complaint</a:t>
            </a:r>
            <a:endParaRPr sz="1350"/>
          </a:p>
        </p:txBody>
      </p:sp>
      <p:sp>
        <p:nvSpPr>
          <p:cNvPr id="1025" name="text"/>
          <p:cNvSpPr txBox="1"/>
          <p:nvPr/>
        </p:nvSpPr>
        <p:spPr>
          <a:xfrm>
            <a:off x="694944" y="3712464"/>
            <a:ext cx="2029968" cy="484632"/>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200" b="0">
                <a:solidFill>
                  <a:srgbClr val="52635F"/>
                </a:solidFill>
                <a:latin typeface="Arial"/>
                <a:ea typeface="Arial"/>
                <a:cs typeface="Arial"/>
              </a:rPr>
              <a:t>An editable draft;</a:t>
            </a:r>
            <a:endParaRPr sz="1200"/>
          </a:p>
          <a:p>
            <a:pPr marL="0" indent="0" algn="l">
              <a:lnSpc>
                <a:spcPct val="110000"/>
              </a:lnSpc>
              <a:spcAft>
                <a:spcPts val="0"/>
              </a:spcAft>
              <a:buNone/>
            </a:pPr>
            <a:r>
              <a:rPr lang="en-US" sz="1200" b="0">
                <a:solidFill>
                  <a:srgbClr val="52635F"/>
                </a:solidFill>
                <a:latin typeface="Arial"/>
                <a:ea typeface="Arial"/>
                <a:cs typeface="Arial"/>
              </a:rPr>
              <a:t>the user sends it</a:t>
            </a:r>
            <a:endParaRPr sz="1200"/>
          </a:p>
        </p:txBody>
      </p:sp>
      <p:sp>
        <p:nvSpPr>
          <p:cNvPr id="1026" name="flow arrow"/>
          <p:cNvSpPr txBox="1"/>
          <p:nvPr/>
        </p:nvSpPr>
        <p:spPr>
          <a:xfrm>
            <a:off x="3008376" y="2130552"/>
            <a:ext cx="246888" cy="164592"/>
          </a:xfrm>
          <a:prstGeom prst="rightArrow">
            <a:avLst/>
          </a:prstGeom>
          <a:solidFill>
            <a:srgbClr val="23665B"/>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27" name="flow arrow"/>
          <p:cNvSpPr txBox="1"/>
          <p:nvPr/>
        </p:nvSpPr>
        <p:spPr>
          <a:xfrm>
            <a:off x="3008376" y="3639312"/>
            <a:ext cx="246888" cy="164592"/>
          </a:xfrm>
          <a:prstGeom prst="leftArrow">
            <a:avLst/>
          </a:prstGeom>
          <a:solidFill>
            <a:srgbClr val="23665B"/>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28" name="flow arrow"/>
          <p:cNvSpPr txBox="1"/>
          <p:nvPr/>
        </p:nvSpPr>
        <p:spPr>
          <a:xfrm>
            <a:off x="5870448" y="2130552"/>
            <a:ext cx="246888" cy="164592"/>
          </a:xfrm>
          <a:prstGeom prst="rightArrow">
            <a:avLst/>
          </a:prstGeom>
          <a:solidFill>
            <a:srgbClr val="23665B"/>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29" name="flow arrow"/>
          <p:cNvSpPr txBox="1"/>
          <p:nvPr/>
        </p:nvSpPr>
        <p:spPr>
          <a:xfrm>
            <a:off x="5870448" y="3639312"/>
            <a:ext cx="246888" cy="164592"/>
          </a:xfrm>
          <a:prstGeom prst="leftArrow">
            <a:avLst/>
          </a:prstGeom>
          <a:solidFill>
            <a:srgbClr val="23665B"/>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30" name="review gate arrow"/>
          <p:cNvSpPr txBox="1"/>
          <p:nvPr/>
        </p:nvSpPr>
        <p:spPr>
          <a:xfrm>
            <a:off x="7333488" y="2871216"/>
            <a:ext cx="182880" cy="246888"/>
          </a:xfrm>
          <a:prstGeom prst="downArrow">
            <a:avLst/>
          </a:prstGeom>
          <a:solidFill>
            <a:srgbClr val="23665B"/>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31" name="text"/>
          <p:cNvSpPr txBox="1"/>
          <p:nvPr/>
        </p:nvSpPr>
        <p:spPr>
          <a:xfrm>
            <a:off x="548640" y="4416552"/>
            <a:ext cx="7406640" cy="201168"/>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050" b="0">
                <a:solidFill>
                  <a:srgbClr val="52635F"/>
                </a:solidFill>
                <a:latin typeface="Arial"/>
                <a:ea typeface="Arial"/>
                <a:cs typeface="Arial"/>
              </a:rPr>
              <a:t>Human confirmation is required before publication. Manual fallback remains visibly labeled.</a:t>
            </a:r>
            <a:endParaRPr sz="10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6"/>
          <p:cNvSpPr/>
          <p:nvPr/>
        </p:nvSpPr>
        <p:spPr>
          <a:xfrm>
            <a:off x="0" y="0"/>
            <a:ext cx="9144000" cy="681600"/>
          </a:xfrm>
          <a:prstGeom prst="rect">
            <a:avLst/>
          </a:prstGeom>
          <a:solidFill>
            <a:srgbClr val="F572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83" name="Google Shape;83;p16" title="logo.png"/>
          <p:cNvPicPr preferRelativeResize="0"/>
          <p:nvPr/>
        </p:nvPicPr>
        <p:blipFill>
          <a:blip r:embed="rId3">
            <a:alphaModFix/>
          </a:blip>
          <a:stretch>
            <a:fillRect/>
          </a:stretch>
        </p:blipFill>
        <p:spPr>
          <a:xfrm>
            <a:off x="8108450" y="4107950"/>
            <a:ext cx="1035550" cy="1035550"/>
          </a:xfrm>
          <a:prstGeom prst="rect">
            <a:avLst/>
          </a:prstGeom>
          <a:noFill/>
          <a:ln>
            <a:noFill/>
          </a:ln>
        </p:spPr>
      </p:pic>
      <p:pic>
        <p:nvPicPr>
          <p:cNvPr id="84" name="Google Shape;84;p16" title="Untitled-1.png"/>
          <p:cNvPicPr preferRelativeResize="0"/>
          <p:nvPr/>
        </p:nvPicPr>
        <p:blipFill rotWithShape="1">
          <a:blip r:embed="rId4">
            <a:alphaModFix/>
          </a:blip>
          <a:srcRect t="38476" b="38474"/>
          <a:stretch/>
        </p:blipFill>
        <p:spPr>
          <a:xfrm>
            <a:off x="125275" y="112050"/>
            <a:ext cx="3528499" cy="457500"/>
          </a:xfrm>
          <a:prstGeom prst="rect">
            <a:avLst/>
          </a:prstGeom>
          <a:noFill/>
          <a:ln>
            <a:noFill/>
          </a:ln>
        </p:spPr>
      </p:pic>
      <p:pic>
        <p:nvPicPr>
          <p:cNvPr id="85" name="Google Shape;85;p16" title="logos.png"/>
          <p:cNvPicPr preferRelativeResize="0"/>
          <p:nvPr/>
        </p:nvPicPr>
        <p:blipFill rotWithShape="1">
          <a:blip r:embed="rId5">
            <a:alphaModFix/>
          </a:blip>
          <a:srcRect l="12521" t="31123" r="11641" b="31692"/>
          <a:stretch/>
        </p:blipFill>
        <p:spPr>
          <a:xfrm>
            <a:off x="7034550" y="84312"/>
            <a:ext cx="1859891" cy="512974"/>
          </a:xfrm>
          <a:prstGeom prst="rect">
            <a:avLst/>
          </a:prstGeom>
          <a:noFill/>
          <a:ln>
            <a:noFill/>
          </a:ln>
        </p:spPr>
      </p:pic>
      <p:sp>
        <p:nvSpPr>
          <p:cNvPr id="1000" name="official section title"/>
          <p:cNvSpPr txBox="1"/>
          <p:nvPr/>
        </p:nvSpPr>
        <p:spPr>
          <a:xfrm>
            <a:off x="457200" y="877824"/>
            <a:ext cx="8229600" cy="475488"/>
          </a:xfrm>
          <a:prstGeom prst="rect">
            <a:avLst/>
          </a:prstGeom>
          <a:noFill/>
          <a:ln>
            <a:noFill/>
          </a:ln>
        </p:spPr>
        <p:txBody>
          <a:bodyPr wrap="square" lIns="0" tIns="0" rIns="0" bIns="0" anchor="t">
            <a:noAutofit/>
          </a:bodyPr>
          <a:lstStyle/>
          <a:p>
            <a:pPr marL="0" indent="0" algn="ctr">
              <a:lnSpc>
                <a:spcPct val="110000"/>
              </a:lnSpc>
              <a:spcAft>
                <a:spcPts val="0"/>
              </a:spcAft>
              <a:buNone/>
            </a:pPr>
            <a:r>
              <a:rPr lang="en-US" sz="2400" b="1">
                <a:solidFill>
                  <a:srgbClr val="111111"/>
                </a:solidFill>
                <a:latin typeface="Arial"/>
                <a:ea typeface="Arial"/>
                <a:cs typeface="Arial"/>
              </a:rPr>
              <a:t>TECHNICAL APPROACH</a:t>
            </a:r>
            <a:endParaRPr sz="2400"/>
          </a:p>
        </p:txBody>
      </p:sp>
      <p:sp>
        <p:nvSpPr>
          <p:cNvPr id="1001" name="project footer"/>
          <p:cNvSpPr txBox="1"/>
          <p:nvPr/>
        </p:nvSpPr>
        <p:spPr>
          <a:xfrm>
            <a:off x="548640" y="4690872"/>
            <a:ext cx="7223760" cy="201168"/>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850" b="0">
                <a:solidFill>
                  <a:srgbClr val="52635F"/>
                </a:solidFill>
                <a:latin typeface="Arial"/>
                <a:ea typeface="Arial"/>
                <a:cs typeface="Arial"/>
              </a:rPr>
              <a:t>POLLUTION SPOTTER  |  AKI HACKS 2026  |  PROPOSED MVP     4/6</a:t>
            </a:r>
            <a:endParaRPr sz="850"/>
          </a:p>
        </p:txBody>
      </p:sp>
      <p:sp>
        <p:nvSpPr>
          <p:cNvPr id="1002" name="text"/>
          <p:cNvSpPr txBox="1"/>
          <p:nvPr/>
        </p:nvSpPr>
        <p:spPr>
          <a:xfrm>
            <a:off x="548640" y="1563624"/>
            <a:ext cx="7680960" cy="301752"/>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600" b="1">
                <a:solidFill>
                  <a:srgbClr val="23665B"/>
                </a:solidFill>
                <a:latin typeface="Arial"/>
                <a:ea typeface="Arial"/>
                <a:cs typeface="Arial"/>
              </a:rPr>
              <a:t>Proposed deployment: one TypeScript app on Vercel</a:t>
            </a:r>
            <a:endParaRPr sz="1600"/>
          </a:p>
        </p:txBody>
      </p:sp>
      <p:sp>
        <p:nvSpPr>
          <p:cNvPr id="1003" name="Browser architecture node"/>
          <p:cNvSpPr txBox="1"/>
          <p:nvPr/>
        </p:nvSpPr>
        <p:spPr>
          <a:xfrm>
            <a:off x="548640" y="2496312"/>
            <a:ext cx="2194560" cy="1115568"/>
          </a:xfrm>
          <a:prstGeom prst="roundRect">
            <a:avLst/>
          </a:prstGeom>
          <a:solidFill>
            <a:srgbClr val="EDF5F1"/>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04" name="text"/>
          <p:cNvSpPr txBox="1"/>
          <p:nvPr/>
        </p:nvSpPr>
        <p:spPr>
          <a:xfrm>
            <a:off x="685800" y="2624328"/>
            <a:ext cx="1920240" cy="310896"/>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600" b="1">
                <a:solidFill>
                  <a:srgbClr val="182C2A"/>
                </a:solidFill>
                <a:latin typeface="Arial"/>
                <a:ea typeface="Arial"/>
                <a:cs typeface="Arial"/>
              </a:rPr>
              <a:t>Browser</a:t>
            </a:r>
            <a:endParaRPr sz="1600"/>
          </a:p>
        </p:txBody>
      </p:sp>
      <p:sp>
        <p:nvSpPr>
          <p:cNvPr id="1005" name="text"/>
          <p:cNvSpPr txBox="1"/>
          <p:nvPr/>
        </p:nvSpPr>
        <p:spPr>
          <a:xfrm>
            <a:off x="685800" y="3017520"/>
            <a:ext cx="1920240" cy="484632"/>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050" b="0">
                <a:solidFill>
                  <a:srgbClr val="52635F"/>
                </a:solidFill>
                <a:latin typeface="Arial"/>
                <a:ea typeface="Arial"/>
                <a:cs typeface="Arial"/>
              </a:rPr>
              <a:t>Next.js · TypeScript · Tailwind</a:t>
            </a:r>
            <a:endParaRPr sz="1050"/>
          </a:p>
          <a:p>
            <a:pPr marL="0" indent="0" algn="l">
              <a:lnSpc>
                <a:spcPct val="110000"/>
              </a:lnSpc>
              <a:spcAft>
                <a:spcPts val="0"/>
              </a:spcAft>
              <a:buNone/>
            </a:pPr>
            <a:r>
              <a:rPr lang="en-US" sz="1050" b="0">
                <a:solidFill>
                  <a:srgbClr val="52635F"/>
                </a:solidFill>
                <a:latin typeface="Arial"/>
                <a:ea typeface="Arial"/>
                <a:cs typeface="Arial"/>
              </a:rPr>
              <a:t>React Leaflet + OpenStreetMap</a:t>
            </a:r>
            <a:endParaRPr sz="1050"/>
          </a:p>
        </p:txBody>
      </p:sp>
      <p:sp>
        <p:nvSpPr>
          <p:cNvPr id="1006" name="Server routes architecture node"/>
          <p:cNvSpPr txBox="1"/>
          <p:nvPr/>
        </p:nvSpPr>
        <p:spPr>
          <a:xfrm>
            <a:off x="3401568" y="2496312"/>
            <a:ext cx="2194560" cy="1115568"/>
          </a:xfrm>
          <a:prstGeom prst="roundRect">
            <a:avLst/>
          </a:prstGeom>
          <a:solidFill>
            <a:srgbClr val="EDF5F1"/>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07" name="text"/>
          <p:cNvSpPr txBox="1"/>
          <p:nvPr/>
        </p:nvSpPr>
        <p:spPr>
          <a:xfrm>
            <a:off x="3538728" y="2624328"/>
            <a:ext cx="1920240" cy="310896"/>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600" b="1">
                <a:solidFill>
                  <a:srgbClr val="182C2A"/>
                </a:solidFill>
                <a:latin typeface="Arial"/>
                <a:ea typeface="Arial"/>
                <a:cs typeface="Arial"/>
              </a:rPr>
              <a:t>Server routes</a:t>
            </a:r>
            <a:endParaRPr sz="1600"/>
          </a:p>
        </p:txBody>
      </p:sp>
      <p:sp>
        <p:nvSpPr>
          <p:cNvPr id="1008" name="text"/>
          <p:cNvSpPr txBox="1"/>
          <p:nvPr/>
        </p:nvSpPr>
        <p:spPr>
          <a:xfrm>
            <a:off x="3538728" y="3017520"/>
            <a:ext cx="1920240" cy="484632"/>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050" b="0">
                <a:solidFill>
                  <a:srgbClr val="52635F"/>
                </a:solidFill>
                <a:latin typeface="Arial"/>
                <a:ea typeface="Arial"/>
                <a:cs typeface="Arial"/>
              </a:rPr>
              <a:t>Validate · review · publish</a:t>
            </a:r>
            <a:endParaRPr sz="1050"/>
          </a:p>
          <a:p>
            <a:pPr marL="0" indent="0" algn="l">
              <a:lnSpc>
                <a:spcPct val="110000"/>
              </a:lnSpc>
              <a:spcAft>
                <a:spcPts val="0"/>
              </a:spcAft>
              <a:buNone/>
            </a:pPr>
            <a:r>
              <a:rPr lang="en-US" sz="1050" b="0">
                <a:solidFill>
                  <a:srgbClr val="52635F"/>
                </a:solidFill>
                <a:latin typeface="Arial"/>
                <a:ea typeface="Arial"/>
                <a:cs typeface="Arial"/>
              </a:rPr>
              <a:t>Authenticated owner writes</a:t>
            </a:r>
            <a:endParaRPr sz="1050"/>
          </a:p>
        </p:txBody>
      </p:sp>
      <p:sp>
        <p:nvSpPr>
          <p:cNvPr id="1009" name="Gemini vision architecture node"/>
          <p:cNvSpPr txBox="1"/>
          <p:nvPr/>
        </p:nvSpPr>
        <p:spPr>
          <a:xfrm>
            <a:off x="6272784" y="1920240"/>
            <a:ext cx="2322576" cy="960120"/>
          </a:xfrm>
          <a:prstGeom prst="roundRect">
            <a:avLst/>
          </a:prstGeom>
          <a:solidFill>
            <a:srgbClr val="EDF5F1"/>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10" name="text"/>
          <p:cNvSpPr txBox="1"/>
          <p:nvPr/>
        </p:nvSpPr>
        <p:spPr>
          <a:xfrm>
            <a:off x="6409944" y="2048256"/>
            <a:ext cx="2048256" cy="310896"/>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600" b="1">
                <a:solidFill>
                  <a:srgbClr val="182C2A"/>
                </a:solidFill>
                <a:latin typeface="Arial"/>
                <a:ea typeface="Arial"/>
                <a:cs typeface="Arial"/>
              </a:rPr>
              <a:t>Gemini vision</a:t>
            </a:r>
            <a:endParaRPr sz="1600"/>
          </a:p>
        </p:txBody>
      </p:sp>
      <p:sp>
        <p:nvSpPr>
          <p:cNvPr id="1011" name="text"/>
          <p:cNvSpPr txBox="1"/>
          <p:nvPr/>
        </p:nvSpPr>
        <p:spPr>
          <a:xfrm>
            <a:off x="6409944" y="2441448"/>
            <a:ext cx="2048256" cy="484632"/>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050" b="0">
                <a:solidFill>
                  <a:srgbClr val="52635F"/>
                </a:solidFill>
                <a:latin typeface="Arial"/>
                <a:ea typeface="Arial"/>
                <a:cs typeface="Arial"/>
              </a:rPr>
              <a:t>Server-side @google/genai</a:t>
            </a:r>
            <a:endParaRPr sz="1050"/>
          </a:p>
          <a:p>
            <a:pPr marL="0" indent="0" algn="l">
              <a:lnSpc>
                <a:spcPct val="110000"/>
              </a:lnSpc>
              <a:spcAft>
                <a:spcPts val="0"/>
              </a:spcAft>
              <a:buNone/>
            </a:pPr>
            <a:r>
              <a:rPr lang="en-US" sz="1050" b="0">
                <a:solidFill>
                  <a:srgbClr val="52635F"/>
                </a:solidFill>
                <a:latin typeface="Arial"/>
                <a:ea typeface="Arial"/>
                <a:cs typeface="Arial"/>
              </a:rPr>
              <a:t>12-second deadline; fallback</a:t>
            </a:r>
            <a:endParaRPr sz="1050"/>
          </a:p>
        </p:txBody>
      </p:sp>
      <p:sp>
        <p:nvSpPr>
          <p:cNvPr id="1012" name="Supabase architecture node"/>
          <p:cNvSpPr txBox="1"/>
          <p:nvPr/>
        </p:nvSpPr>
        <p:spPr>
          <a:xfrm>
            <a:off x="6272784" y="3273552"/>
            <a:ext cx="2322576" cy="960120"/>
          </a:xfrm>
          <a:prstGeom prst="roundRect">
            <a:avLst/>
          </a:prstGeom>
          <a:solidFill>
            <a:srgbClr val="EDF5F1"/>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13" name="text"/>
          <p:cNvSpPr txBox="1"/>
          <p:nvPr/>
        </p:nvSpPr>
        <p:spPr>
          <a:xfrm>
            <a:off x="6409944" y="3401568"/>
            <a:ext cx="2048256" cy="310896"/>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600" b="1">
                <a:solidFill>
                  <a:srgbClr val="182C2A"/>
                </a:solidFill>
                <a:latin typeface="Arial"/>
                <a:ea typeface="Arial"/>
                <a:cs typeface="Arial"/>
              </a:rPr>
              <a:t>Supabase</a:t>
            </a:r>
            <a:endParaRPr sz="1600"/>
          </a:p>
        </p:txBody>
      </p:sp>
      <p:sp>
        <p:nvSpPr>
          <p:cNvPr id="1014" name="text"/>
          <p:cNvSpPr txBox="1"/>
          <p:nvPr/>
        </p:nvSpPr>
        <p:spPr>
          <a:xfrm>
            <a:off x="6409944" y="3794760"/>
            <a:ext cx="2048256" cy="484632"/>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050" b="0">
                <a:solidFill>
                  <a:srgbClr val="52635F"/>
                </a:solidFill>
                <a:latin typeface="Arial"/>
                <a:ea typeface="Arial"/>
                <a:cs typeface="Arial"/>
              </a:rPr>
              <a:t>Postgres + private Storage</a:t>
            </a:r>
            <a:endParaRPr sz="1050"/>
          </a:p>
          <a:p>
            <a:pPr marL="0" indent="0" algn="l">
              <a:lnSpc>
                <a:spcPct val="110000"/>
              </a:lnSpc>
              <a:spcAft>
                <a:spcPts val="0"/>
              </a:spcAft>
              <a:buNone/>
            </a:pPr>
            <a:r>
              <a:rPr lang="en-US" sz="1050" b="0">
                <a:solidFill>
                  <a:srgbClr val="52635F"/>
                </a:solidFill>
                <a:latin typeface="Arial"/>
                <a:ea typeface="Arial"/>
                <a:cs typeface="Arial"/>
              </a:rPr>
              <a:t>Anonymous auth; owned drafts</a:t>
            </a:r>
            <a:endParaRPr sz="1050"/>
          </a:p>
        </p:txBody>
      </p:sp>
      <p:sp>
        <p:nvSpPr>
          <p:cNvPr id="1015" name="browser to server"/>
          <p:cNvSpPr txBox="1"/>
          <p:nvPr/>
        </p:nvSpPr>
        <p:spPr>
          <a:xfrm>
            <a:off x="2935224" y="2907792"/>
            <a:ext cx="274320" cy="164592"/>
          </a:xfrm>
          <a:prstGeom prst="rightArrow">
            <a:avLst/>
          </a:prstGeom>
          <a:solidFill>
            <a:srgbClr val="23665B"/>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16" name="server to vision"/>
          <p:cNvSpPr txBox="1"/>
          <p:nvPr/>
        </p:nvSpPr>
        <p:spPr>
          <a:xfrm>
            <a:off x="5788152" y="2624328"/>
            <a:ext cx="274320" cy="164592"/>
          </a:xfrm>
          <a:prstGeom prst="rightArrow">
            <a:avLst/>
          </a:prstGeom>
          <a:solidFill>
            <a:srgbClr val="23665B"/>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17" name="server to database"/>
          <p:cNvSpPr txBox="1"/>
          <p:nvPr/>
        </p:nvSpPr>
        <p:spPr>
          <a:xfrm>
            <a:off x="5788152" y="3465576"/>
            <a:ext cx="274320" cy="164592"/>
          </a:xfrm>
          <a:prstGeom prst="rightArrow">
            <a:avLst/>
          </a:prstGeom>
          <a:solidFill>
            <a:srgbClr val="23665B"/>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18" name="text"/>
          <p:cNvSpPr txBox="1"/>
          <p:nvPr/>
        </p:nvSpPr>
        <p:spPr>
          <a:xfrm>
            <a:off x="548640" y="3968496"/>
            <a:ext cx="5074920" cy="502920"/>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200" b="1">
                <a:solidFill>
                  <a:srgbClr val="23665B"/>
                </a:solidFill>
                <a:latin typeface="Arial"/>
                <a:ea typeface="Arial"/>
                <a:cs typeface="Arial"/>
              </a:rPr>
              <a:t>Public map: reviewed fields only.</a:t>
            </a:r>
            <a:endParaRPr sz="1200"/>
          </a:p>
          <a:p>
            <a:pPr marL="0" indent="0" algn="l">
              <a:lnSpc>
                <a:spcPct val="110000"/>
              </a:lnSpc>
              <a:spcAft>
                <a:spcPts val="0"/>
              </a:spcAft>
              <a:buNone/>
            </a:pPr>
            <a:r>
              <a:rPr lang="en-US" sz="1200" b="1">
                <a:solidFill>
                  <a:srgbClr val="23665B"/>
                </a:solidFill>
                <a:latin typeface="Arial"/>
                <a:ea typeface="Arial"/>
                <a:cs typeface="Arial"/>
              </a:rPr>
              <a:t>Photos, owner IDs and API keys remain private.</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7"/>
          <p:cNvSpPr/>
          <p:nvPr/>
        </p:nvSpPr>
        <p:spPr>
          <a:xfrm>
            <a:off x="0" y="0"/>
            <a:ext cx="9144000" cy="681600"/>
          </a:xfrm>
          <a:prstGeom prst="rect">
            <a:avLst/>
          </a:prstGeom>
          <a:solidFill>
            <a:srgbClr val="F572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93" name="Google Shape;93;p17" title="logo.png"/>
          <p:cNvPicPr preferRelativeResize="0"/>
          <p:nvPr/>
        </p:nvPicPr>
        <p:blipFill>
          <a:blip r:embed="rId3">
            <a:alphaModFix/>
          </a:blip>
          <a:stretch>
            <a:fillRect/>
          </a:stretch>
        </p:blipFill>
        <p:spPr>
          <a:xfrm>
            <a:off x="8108450" y="4107950"/>
            <a:ext cx="1035550" cy="1035550"/>
          </a:xfrm>
          <a:prstGeom prst="rect">
            <a:avLst/>
          </a:prstGeom>
          <a:noFill/>
          <a:ln>
            <a:noFill/>
          </a:ln>
        </p:spPr>
      </p:pic>
      <p:pic>
        <p:nvPicPr>
          <p:cNvPr id="94" name="Google Shape;94;p17" title="Untitled-1.png"/>
          <p:cNvPicPr preferRelativeResize="0"/>
          <p:nvPr/>
        </p:nvPicPr>
        <p:blipFill rotWithShape="1">
          <a:blip r:embed="rId4">
            <a:alphaModFix/>
          </a:blip>
          <a:srcRect t="38476" b="38474"/>
          <a:stretch/>
        </p:blipFill>
        <p:spPr>
          <a:xfrm>
            <a:off x="125275" y="112050"/>
            <a:ext cx="3528499" cy="457500"/>
          </a:xfrm>
          <a:prstGeom prst="rect">
            <a:avLst/>
          </a:prstGeom>
          <a:noFill/>
          <a:ln>
            <a:noFill/>
          </a:ln>
        </p:spPr>
      </p:pic>
      <p:pic>
        <p:nvPicPr>
          <p:cNvPr id="95" name="Google Shape;95;p17" title="logos.png"/>
          <p:cNvPicPr preferRelativeResize="0"/>
          <p:nvPr/>
        </p:nvPicPr>
        <p:blipFill rotWithShape="1">
          <a:blip r:embed="rId5">
            <a:alphaModFix/>
          </a:blip>
          <a:srcRect l="12521" t="31123" r="11641" b="31692"/>
          <a:stretch/>
        </p:blipFill>
        <p:spPr>
          <a:xfrm>
            <a:off x="7034550" y="84312"/>
            <a:ext cx="1859891" cy="512974"/>
          </a:xfrm>
          <a:prstGeom prst="rect">
            <a:avLst/>
          </a:prstGeom>
          <a:noFill/>
          <a:ln>
            <a:noFill/>
          </a:ln>
        </p:spPr>
      </p:pic>
      <p:sp>
        <p:nvSpPr>
          <p:cNvPr id="1000" name="official section title"/>
          <p:cNvSpPr txBox="1"/>
          <p:nvPr/>
        </p:nvSpPr>
        <p:spPr>
          <a:xfrm>
            <a:off x="457200" y="877824"/>
            <a:ext cx="8229600" cy="475488"/>
          </a:xfrm>
          <a:prstGeom prst="rect">
            <a:avLst/>
          </a:prstGeom>
          <a:noFill/>
          <a:ln>
            <a:noFill/>
          </a:ln>
        </p:spPr>
        <p:txBody>
          <a:bodyPr wrap="square" lIns="0" tIns="0" rIns="0" bIns="0" anchor="t">
            <a:noAutofit/>
          </a:bodyPr>
          <a:lstStyle/>
          <a:p>
            <a:pPr marL="0" indent="0" algn="ctr">
              <a:lnSpc>
                <a:spcPct val="110000"/>
              </a:lnSpc>
              <a:spcAft>
                <a:spcPts val="0"/>
              </a:spcAft>
              <a:buNone/>
            </a:pPr>
            <a:r>
              <a:rPr lang="en-US" sz="2400" b="1">
                <a:solidFill>
                  <a:srgbClr val="111111"/>
                </a:solidFill>
                <a:latin typeface="Arial"/>
                <a:ea typeface="Arial"/>
                <a:cs typeface="Arial"/>
              </a:rPr>
              <a:t>INNOVATION &amp; DIFFERENTIATION</a:t>
            </a:r>
            <a:endParaRPr sz="2400"/>
          </a:p>
        </p:txBody>
      </p:sp>
      <p:sp>
        <p:nvSpPr>
          <p:cNvPr id="1001" name="project footer"/>
          <p:cNvSpPr txBox="1"/>
          <p:nvPr/>
        </p:nvSpPr>
        <p:spPr>
          <a:xfrm>
            <a:off x="548640" y="4690872"/>
            <a:ext cx="7223760" cy="201168"/>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850" b="0">
                <a:solidFill>
                  <a:srgbClr val="52635F"/>
                </a:solidFill>
                <a:latin typeface="Arial"/>
                <a:ea typeface="Arial"/>
                <a:cs typeface="Arial"/>
              </a:rPr>
              <a:t>POLLUTION SPOTTER  |  AKI HACKS 2026  |  PROPOSED MVP     5/6</a:t>
            </a:r>
            <a:endParaRPr sz="850"/>
          </a:p>
        </p:txBody>
      </p:sp>
      <p:sp>
        <p:nvSpPr>
          <p:cNvPr id="1002" name="differentiator 1"/>
          <p:cNvSpPr txBox="1"/>
          <p:nvPr/>
        </p:nvSpPr>
        <p:spPr>
          <a:xfrm>
            <a:off x="548640" y="1655064"/>
            <a:ext cx="3886200" cy="1170432"/>
          </a:xfrm>
          <a:prstGeom prst="roundRect">
            <a:avLst/>
          </a:prstGeom>
          <a:solidFill>
            <a:srgbClr val="EDF5F1"/>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03" name="text"/>
          <p:cNvSpPr txBox="1"/>
          <p:nvPr/>
        </p:nvSpPr>
        <p:spPr>
          <a:xfrm>
            <a:off x="713232" y="1792224"/>
            <a:ext cx="3566160" cy="292608"/>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600" b="1">
                <a:solidFill>
                  <a:srgbClr val="182C2A"/>
                </a:solidFill>
                <a:latin typeface="Arial"/>
                <a:ea typeface="Arial"/>
                <a:cs typeface="Arial"/>
              </a:rPr>
              <a:t>Human-reviewed by design</a:t>
            </a:r>
            <a:endParaRPr sz="1600"/>
          </a:p>
        </p:txBody>
      </p:sp>
      <p:sp>
        <p:nvSpPr>
          <p:cNvPr id="1004" name="text"/>
          <p:cNvSpPr txBox="1"/>
          <p:nvPr/>
        </p:nvSpPr>
        <p:spPr>
          <a:xfrm>
            <a:off x="713232" y="2212848"/>
            <a:ext cx="3520440" cy="557784"/>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250" b="0">
                <a:solidFill>
                  <a:srgbClr val="52635F"/>
                </a:solidFill>
                <a:latin typeface="Arial"/>
                <a:ea typeface="Arial"/>
                <a:cs typeface="Arial"/>
              </a:rPr>
              <a:t>AI proposes visible labels. The reporter corrects them before anything is published.</a:t>
            </a:r>
            <a:endParaRPr sz="1250"/>
          </a:p>
        </p:txBody>
      </p:sp>
      <p:sp>
        <p:nvSpPr>
          <p:cNvPr id="1005" name="differentiator 2"/>
          <p:cNvSpPr txBox="1"/>
          <p:nvPr/>
        </p:nvSpPr>
        <p:spPr>
          <a:xfrm>
            <a:off x="4681728" y="1655064"/>
            <a:ext cx="3886200" cy="1170432"/>
          </a:xfrm>
          <a:prstGeom prst="roundRect">
            <a:avLst/>
          </a:prstGeom>
          <a:solidFill>
            <a:srgbClr val="EDF5F1"/>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06" name="text"/>
          <p:cNvSpPr txBox="1"/>
          <p:nvPr/>
        </p:nvSpPr>
        <p:spPr>
          <a:xfrm>
            <a:off x="4846320" y="1792224"/>
            <a:ext cx="3566160" cy="292608"/>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600" b="1">
                <a:solidFill>
                  <a:srgbClr val="182C2A"/>
                </a:solidFill>
                <a:latin typeface="Arial"/>
                <a:ea typeface="Arial"/>
                <a:cs typeface="Arial"/>
              </a:rPr>
              <a:t>Privacy at the public map</a:t>
            </a:r>
            <a:endParaRPr sz="1600"/>
          </a:p>
        </p:txBody>
      </p:sp>
      <p:sp>
        <p:nvSpPr>
          <p:cNvPr id="1007" name="text"/>
          <p:cNvSpPr txBox="1"/>
          <p:nvPr/>
        </p:nvSpPr>
        <p:spPr>
          <a:xfrm>
            <a:off x="4846320" y="2212848"/>
            <a:ext cx="3520440" cy="557784"/>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250" b="0">
                <a:solidFill>
                  <a:srgbClr val="52635F"/>
                </a:solidFill>
                <a:latin typeface="Arial"/>
                <a:ea typeface="Arial"/>
                <a:cs typeface="Arial"/>
              </a:rPr>
              <a:t>Photos and owner IDs stay private. Only approved report details appear on the map.</a:t>
            </a:r>
            <a:endParaRPr sz="1250"/>
          </a:p>
        </p:txBody>
      </p:sp>
      <p:sp>
        <p:nvSpPr>
          <p:cNvPr id="1008" name="differentiator 3"/>
          <p:cNvSpPr txBox="1"/>
          <p:nvPr/>
        </p:nvSpPr>
        <p:spPr>
          <a:xfrm>
            <a:off x="548640" y="3063240"/>
            <a:ext cx="3886200" cy="1170432"/>
          </a:xfrm>
          <a:prstGeom prst="roundRect">
            <a:avLst/>
          </a:prstGeom>
          <a:solidFill>
            <a:srgbClr val="EDF5F1"/>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09" name="text"/>
          <p:cNvSpPr txBox="1"/>
          <p:nvPr/>
        </p:nvSpPr>
        <p:spPr>
          <a:xfrm>
            <a:off x="713232" y="3200400"/>
            <a:ext cx="3566160" cy="292608"/>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600" b="1">
                <a:solidFill>
                  <a:srgbClr val="182C2A"/>
                </a:solidFill>
                <a:latin typeface="Arial"/>
                <a:ea typeface="Arial"/>
                <a:cs typeface="Arial"/>
              </a:rPr>
              <a:t>Works when AI does not</a:t>
            </a:r>
            <a:endParaRPr sz="1600"/>
          </a:p>
        </p:txBody>
      </p:sp>
      <p:sp>
        <p:nvSpPr>
          <p:cNvPr id="1010" name="text"/>
          <p:cNvSpPr txBox="1"/>
          <p:nvPr/>
        </p:nvSpPr>
        <p:spPr>
          <a:xfrm>
            <a:off x="713232" y="3621024"/>
            <a:ext cx="3520440" cy="557784"/>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250" b="0">
                <a:solidFill>
                  <a:srgbClr val="52635F"/>
                </a:solidFill>
                <a:latin typeface="Arial"/>
                <a:ea typeface="Arial"/>
                <a:cs typeface="Arial"/>
              </a:rPr>
              <a:t>A clearly labeled manual path keeps reporting usable if model access fails.</a:t>
            </a:r>
            <a:endParaRPr sz="1250"/>
          </a:p>
        </p:txBody>
      </p:sp>
      <p:sp>
        <p:nvSpPr>
          <p:cNvPr id="1011" name="differentiator 4"/>
          <p:cNvSpPr txBox="1"/>
          <p:nvPr/>
        </p:nvSpPr>
        <p:spPr>
          <a:xfrm>
            <a:off x="4681728" y="3063240"/>
            <a:ext cx="3886200" cy="1170432"/>
          </a:xfrm>
          <a:prstGeom prst="roundRect">
            <a:avLst/>
          </a:prstGeom>
          <a:solidFill>
            <a:srgbClr val="EDF5F1"/>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12" name="text"/>
          <p:cNvSpPr txBox="1"/>
          <p:nvPr/>
        </p:nvSpPr>
        <p:spPr>
          <a:xfrm>
            <a:off x="4846320" y="3200400"/>
            <a:ext cx="3566160" cy="292608"/>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600" b="1">
                <a:solidFill>
                  <a:srgbClr val="182C2A"/>
                </a:solidFill>
                <a:latin typeface="Arial"/>
                <a:ea typeface="Arial"/>
                <a:cs typeface="Arial"/>
              </a:rPr>
              <a:t>Observation to action</a:t>
            </a:r>
            <a:endParaRPr sz="1600"/>
          </a:p>
        </p:txBody>
      </p:sp>
      <p:sp>
        <p:nvSpPr>
          <p:cNvPr id="1013" name="text"/>
          <p:cNvSpPr txBox="1"/>
          <p:nvPr/>
        </p:nvSpPr>
        <p:spPr>
          <a:xfrm>
            <a:off x="4846320" y="3621024"/>
            <a:ext cx="3520440" cy="557784"/>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250" b="0">
                <a:solidFill>
                  <a:srgbClr val="52635F"/>
                </a:solidFill>
                <a:latin typeface="Arial"/>
                <a:ea typeface="Arial"/>
                <a:cs typeface="Arial"/>
              </a:rPr>
              <a:t>Location, reviewed observations and complaint copy remain connected.</a:t>
            </a:r>
            <a:endParaRPr sz="1250"/>
          </a:p>
        </p:txBody>
      </p:sp>
      <p:sp>
        <p:nvSpPr>
          <p:cNvPr id="1014" name="text"/>
          <p:cNvSpPr txBox="1"/>
          <p:nvPr/>
        </p:nvSpPr>
        <p:spPr>
          <a:xfrm>
            <a:off x="548640" y="4425696"/>
            <a:ext cx="7360920" cy="201168"/>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050" b="0">
                <a:solidFill>
                  <a:srgbClr val="52635F"/>
                </a:solidFill>
                <a:latin typeface="Arial"/>
                <a:ea typeface="Arial"/>
                <a:cs typeface="Arial"/>
              </a:rPr>
              <a:t>Visible observations do not establish chemical contamination or water safety.</a:t>
            </a:r>
            <a:endParaRPr sz="10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p:nvPr/>
        </p:nvSpPr>
        <p:spPr>
          <a:xfrm>
            <a:off x="0" y="0"/>
            <a:ext cx="9144000" cy="681600"/>
          </a:xfrm>
          <a:prstGeom prst="rect">
            <a:avLst/>
          </a:prstGeom>
          <a:solidFill>
            <a:srgbClr val="F572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03" name="Google Shape;103;p18" title="logo.png"/>
          <p:cNvPicPr preferRelativeResize="0"/>
          <p:nvPr/>
        </p:nvPicPr>
        <p:blipFill>
          <a:blip r:embed="rId3">
            <a:alphaModFix/>
          </a:blip>
          <a:stretch>
            <a:fillRect/>
          </a:stretch>
        </p:blipFill>
        <p:spPr>
          <a:xfrm>
            <a:off x="8108450" y="4107950"/>
            <a:ext cx="1035550" cy="1035550"/>
          </a:xfrm>
          <a:prstGeom prst="rect">
            <a:avLst/>
          </a:prstGeom>
          <a:noFill/>
          <a:ln>
            <a:noFill/>
          </a:ln>
        </p:spPr>
      </p:pic>
      <p:pic>
        <p:nvPicPr>
          <p:cNvPr id="104" name="Google Shape;104;p18" title="Untitled-1.png"/>
          <p:cNvPicPr preferRelativeResize="0"/>
          <p:nvPr/>
        </p:nvPicPr>
        <p:blipFill rotWithShape="1">
          <a:blip r:embed="rId4">
            <a:alphaModFix/>
          </a:blip>
          <a:srcRect t="38476" b="38474"/>
          <a:stretch/>
        </p:blipFill>
        <p:spPr>
          <a:xfrm>
            <a:off x="125275" y="107850"/>
            <a:ext cx="3560899" cy="461701"/>
          </a:xfrm>
          <a:prstGeom prst="rect">
            <a:avLst/>
          </a:prstGeom>
          <a:noFill/>
          <a:ln>
            <a:noFill/>
          </a:ln>
        </p:spPr>
      </p:pic>
      <p:pic>
        <p:nvPicPr>
          <p:cNvPr id="105" name="Google Shape;105;p18" title="logos.png"/>
          <p:cNvPicPr preferRelativeResize="0"/>
          <p:nvPr/>
        </p:nvPicPr>
        <p:blipFill rotWithShape="1">
          <a:blip r:embed="rId5">
            <a:alphaModFix/>
          </a:blip>
          <a:srcRect l="12521" t="31123" r="11641" b="31692"/>
          <a:stretch/>
        </p:blipFill>
        <p:spPr>
          <a:xfrm>
            <a:off x="7034550" y="84312"/>
            <a:ext cx="1859891" cy="512974"/>
          </a:xfrm>
          <a:prstGeom prst="rect">
            <a:avLst/>
          </a:prstGeom>
          <a:noFill/>
          <a:ln>
            <a:noFill/>
          </a:ln>
        </p:spPr>
      </p:pic>
      <p:sp>
        <p:nvSpPr>
          <p:cNvPr id="1000" name="official section title"/>
          <p:cNvSpPr txBox="1"/>
          <p:nvPr/>
        </p:nvSpPr>
        <p:spPr>
          <a:xfrm>
            <a:off x="457200" y="877824"/>
            <a:ext cx="8229600" cy="475488"/>
          </a:xfrm>
          <a:prstGeom prst="rect">
            <a:avLst/>
          </a:prstGeom>
          <a:noFill/>
          <a:ln>
            <a:noFill/>
          </a:ln>
        </p:spPr>
        <p:txBody>
          <a:bodyPr wrap="square" lIns="0" tIns="0" rIns="0" bIns="0" anchor="t">
            <a:noAutofit/>
          </a:bodyPr>
          <a:lstStyle/>
          <a:p>
            <a:pPr marL="0" indent="0" algn="ctr">
              <a:lnSpc>
                <a:spcPct val="110000"/>
              </a:lnSpc>
              <a:spcAft>
                <a:spcPts val="0"/>
              </a:spcAft>
              <a:buNone/>
            </a:pPr>
            <a:r>
              <a:rPr lang="en-US" sz="2400" b="1">
                <a:solidFill>
                  <a:srgbClr val="111111"/>
                </a:solidFill>
                <a:latin typeface="Arial"/>
                <a:ea typeface="Arial"/>
                <a:cs typeface="Arial"/>
              </a:rPr>
              <a:t>FEASIBILITY, IMPACT &amp; FUTURE</a:t>
            </a:r>
            <a:endParaRPr sz="2400"/>
          </a:p>
        </p:txBody>
      </p:sp>
      <p:sp>
        <p:nvSpPr>
          <p:cNvPr id="1001" name="project footer"/>
          <p:cNvSpPr txBox="1"/>
          <p:nvPr/>
        </p:nvSpPr>
        <p:spPr>
          <a:xfrm>
            <a:off x="548640" y="4690872"/>
            <a:ext cx="7223760" cy="201168"/>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850" b="0">
                <a:solidFill>
                  <a:srgbClr val="52635F"/>
                </a:solidFill>
                <a:latin typeface="Arial"/>
                <a:ea typeface="Arial"/>
                <a:cs typeface="Arial"/>
              </a:rPr>
              <a:t>POLLUTION SPOTTER  |  AKI HACKS 2026  |  PROPOSED MVP     6/6</a:t>
            </a:r>
            <a:endParaRPr sz="850"/>
          </a:p>
        </p:txBody>
      </p:sp>
      <p:sp>
        <p:nvSpPr>
          <p:cNvPr id="1002" name="text"/>
          <p:cNvSpPr txBox="1"/>
          <p:nvPr/>
        </p:nvSpPr>
        <p:spPr>
          <a:xfrm>
            <a:off x="548640" y="1581912"/>
            <a:ext cx="7863840" cy="365760"/>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2100" b="1">
                <a:solidFill>
                  <a:srgbClr val="23665B"/>
                </a:solidFill>
                <a:latin typeface="Arial"/>
                <a:ea typeface="Arial"/>
                <a:cs typeface="Arial"/>
              </a:rPr>
              <a:t>Eight hours. One complete reporting journey.</a:t>
            </a:r>
            <a:endParaRPr sz="2100"/>
          </a:p>
        </p:txBody>
      </p:sp>
      <p:sp>
        <p:nvSpPr>
          <p:cNvPr id="1003" name="H1 milestone"/>
          <p:cNvSpPr txBox="1"/>
          <p:nvPr/>
        </p:nvSpPr>
        <p:spPr>
          <a:xfrm>
            <a:off x="548640" y="2148840"/>
            <a:ext cx="1362456" cy="667512"/>
          </a:xfrm>
          <a:prstGeom prst="roundRect">
            <a:avLst/>
          </a:prstGeom>
          <a:solidFill>
            <a:srgbClr val="EDF5F1"/>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04" name="text"/>
          <p:cNvSpPr txBox="1"/>
          <p:nvPr/>
        </p:nvSpPr>
        <p:spPr>
          <a:xfrm>
            <a:off x="640080" y="2240280"/>
            <a:ext cx="1179576" cy="219456"/>
          </a:xfrm>
          <a:prstGeom prst="rect">
            <a:avLst/>
          </a:prstGeom>
          <a:noFill/>
          <a:ln>
            <a:noFill/>
          </a:ln>
        </p:spPr>
        <p:txBody>
          <a:bodyPr wrap="square" lIns="0" tIns="0" rIns="0" bIns="0" anchor="t">
            <a:noAutofit/>
          </a:bodyPr>
          <a:lstStyle/>
          <a:p>
            <a:pPr marL="0" indent="0" algn="ctr">
              <a:lnSpc>
                <a:spcPct val="110000"/>
              </a:lnSpc>
              <a:spcAft>
                <a:spcPts val="0"/>
              </a:spcAft>
              <a:buNone/>
            </a:pPr>
            <a:r>
              <a:rPr lang="en-US" sz="1400" b="1">
                <a:solidFill>
                  <a:srgbClr val="23665B"/>
                </a:solidFill>
                <a:latin typeface="Arial"/>
                <a:ea typeface="Arial"/>
                <a:cs typeface="Arial"/>
              </a:rPr>
              <a:t>H1</a:t>
            </a:r>
            <a:endParaRPr sz="1400"/>
          </a:p>
        </p:txBody>
      </p:sp>
      <p:sp>
        <p:nvSpPr>
          <p:cNvPr id="1005" name="text"/>
          <p:cNvSpPr txBox="1"/>
          <p:nvPr/>
        </p:nvSpPr>
        <p:spPr>
          <a:xfrm>
            <a:off x="621792" y="2532888"/>
            <a:ext cx="1216152" cy="210312"/>
          </a:xfrm>
          <a:prstGeom prst="rect">
            <a:avLst/>
          </a:prstGeom>
          <a:noFill/>
          <a:ln>
            <a:noFill/>
          </a:ln>
        </p:spPr>
        <p:txBody>
          <a:bodyPr wrap="square" lIns="0" tIns="0" rIns="0" bIns="0" anchor="t">
            <a:noAutofit/>
          </a:bodyPr>
          <a:lstStyle/>
          <a:p>
            <a:pPr marL="0" indent="0" algn="ctr">
              <a:lnSpc>
                <a:spcPct val="110000"/>
              </a:lnSpc>
              <a:spcAft>
                <a:spcPts val="0"/>
              </a:spcAft>
              <a:buNone/>
            </a:pPr>
            <a:r>
              <a:rPr lang="en-US" sz="1150" b="0">
                <a:solidFill>
                  <a:srgbClr val="182C2A"/>
                </a:solidFill>
                <a:latin typeface="Arial"/>
                <a:ea typeface="Arial"/>
                <a:cs typeface="Arial"/>
              </a:rPr>
              <a:t>Contracts</a:t>
            </a:r>
            <a:endParaRPr sz="1150"/>
          </a:p>
        </p:txBody>
      </p:sp>
      <p:sp>
        <p:nvSpPr>
          <p:cNvPr id="1006" name="milestone arrow"/>
          <p:cNvSpPr txBox="1"/>
          <p:nvPr/>
        </p:nvSpPr>
        <p:spPr>
          <a:xfrm>
            <a:off x="1965960" y="2404872"/>
            <a:ext cx="146304" cy="128016"/>
          </a:xfrm>
          <a:prstGeom prst="rightArrow">
            <a:avLst/>
          </a:prstGeom>
          <a:solidFill>
            <a:srgbClr val="23665B"/>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07" name="H3 milestone"/>
          <p:cNvSpPr txBox="1"/>
          <p:nvPr/>
        </p:nvSpPr>
        <p:spPr>
          <a:xfrm>
            <a:off x="2167128" y="2148840"/>
            <a:ext cx="1362456" cy="667512"/>
          </a:xfrm>
          <a:prstGeom prst="roundRect">
            <a:avLst/>
          </a:prstGeom>
          <a:solidFill>
            <a:srgbClr val="EDF5F1"/>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08" name="text"/>
          <p:cNvSpPr txBox="1"/>
          <p:nvPr/>
        </p:nvSpPr>
        <p:spPr>
          <a:xfrm>
            <a:off x="2258568" y="2240280"/>
            <a:ext cx="1179576" cy="219456"/>
          </a:xfrm>
          <a:prstGeom prst="rect">
            <a:avLst/>
          </a:prstGeom>
          <a:noFill/>
          <a:ln>
            <a:noFill/>
          </a:ln>
        </p:spPr>
        <p:txBody>
          <a:bodyPr wrap="square" lIns="0" tIns="0" rIns="0" bIns="0" anchor="t">
            <a:noAutofit/>
          </a:bodyPr>
          <a:lstStyle/>
          <a:p>
            <a:pPr marL="0" indent="0" algn="ctr">
              <a:lnSpc>
                <a:spcPct val="110000"/>
              </a:lnSpc>
              <a:spcAft>
                <a:spcPts val="0"/>
              </a:spcAft>
              <a:buNone/>
            </a:pPr>
            <a:r>
              <a:rPr lang="en-US" sz="1400" b="1">
                <a:solidFill>
                  <a:srgbClr val="23665B"/>
                </a:solidFill>
                <a:latin typeface="Arial"/>
                <a:ea typeface="Arial"/>
                <a:cs typeface="Arial"/>
              </a:rPr>
              <a:t>H3</a:t>
            </a:r>
            <a:endParaRPr sz="1400"/>
          </a:p>
        </p:txBody>
      </p:sp>
      <p:sp>
        <p:nvSpPr>
          <p:cNvPr id="1009" name="text"/>
          <p:cNvSpPr txBox="1"/>
          <p:nvPr/>
        </p:nvSpPr>
        <p:spPr>
          <a:xfrm>
            <a:off x="2240280" y="2532888"/>
            <a:ext cx="1216152" cy="210312"/>
          </a:xfrm>
          <a:prstGeom prst="rect">
            <a:avLst/>
          </a:prstGeom>
          <a:noFill/>
          <a:ln>
            <a:noFill/>
          </a:ln>
        </p:spPr>
        <p:txBody>
          <a:bodyPr wrap="square" lIns="0" tIns="0" rIns="0" bIns="0" anchor="t">
            <a:noAutofit/>
          </a:bodyPr>
          <a:lstStyle/>
          <a:p>
            <a:pPr marL="0" indent="0" algn="ctr">
              <a:lnSpc>
                <a:spcPct val="110000"/>
              </a:lnSpc>
              <a:spcAft>
                <a:spcPts val="0"/>
              </a:spcAft>
              <a:buNone/>
            </a:pPr>
            <a:r>
              <a:rPr lang="en-US" sz="1150" b="0">
                <a:solidFill>
                  <a:srgbClr val="182C2A"/>
                </a:solidFill>
                <a:latin typeface="Arial"/>
                <a:ea typeface="Arial"/>
                <a:cs typeface="Arial"/>
              </a:rPr>
              <a:t>Manual slice</a:t>
            </a:r>
            <a:endParaRPr sz="1150"/>
          </a:p>
        </p:txBody>
      </p:sp>
      <p:sp>
        <p:nvSpPr>
          <p:cNvPr id="1010" name="milestone arrow"/>
          <p:cNvSpPr txBox="1"/>
          <p:nvPr/>
        </p:nvSpPr>
        <p:spPr>
          <a:xfrm>
            <a:off x="3584448" y="2404872"/>
            <a:ext cx="146304" cy="128016"/>
          </a:xfrm>
          <a:prstGeom prst="rightArrow">
            <a:avLst/>
          </a:prstGeom>
          <a:solidFill>
            <a:srgbClr val="23665B"/>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11" name="H5 milestone"/>
          <p:cNvSpPr txBox="1"/>
          <p:nvPr/>
        </p:nvSpPr>
        <p:spPr>
          <a:xfrm>
            <a:off x="3785616" y="2148840"/>
            <a:ext cx="1362456" cy="667512"/>
          </a:xfrm>
          <a:prstGeom prst="roundRect">
            <a:avLst/>
          </a:prstGeom>
          <a:solidFill>
            <a:srgbClr val="EDF5F1"/>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12" name="text"/>
          <p:cNvSpPr txBox="1"/>
          <p:nvPr/>
        </p:nvSpPr>
        <p:spPr>
          <a:xfrm>
            <a:off x="3877056" y="2240280"/>
            <a:ext cx="1179576" cy="219456"/>
          </a:xfrm>
          <a:prstGeom prst="rect">
            <a:avLst/>
          </a:prstGeom>
          <a:noFill/>
          <a:ln>
            <a:noFill/>
          </a:ln>
        </p:spPr>
        <p:txBody>
          <a:bodyPr wrap="square" lIns="0" tIns="0" rIns="0" bIns="0" anchor="t">
            <a:noAutofit/>
          </a:bodyPr>
          <a:lstStyle/>
          <a:p>
            <a:pPr marL="0" indent="0" algn="ctr">
              <a:lnSpc>
                <a:spcPct val="110000"/>
              </a:lnSpc>
              <a:spcAft>
                <a:spcPts val="0"/>
              </a:spcAft>
              <a:buNone/>
            </a:pPr>
            <a:r>
              <a:rPr lang="en-US" sz="1400" b="1">
                <a:solidFill>
                  <a:srgbClr val="23665B"/>
                </a:solidFill>
                <a:latin typeface="Arial"/>
                <a:ea typeface="Arial"/>
                <a:cs typeface="Arial"/>
              </a:rPr>
              <a:t>H5</a:t>
            </a:r>
            <a:endParaRPr sz="1400"/>
          </a:p>
        </p:txBody>
      </p:sp>
      <p:sp>
        <p:nvSpPr>
          <p:cNvPr id="1013" name="text"/>
          <p:cNvSpPr txBox="1"/>
          <p:nvPr/>
        </p:nvSpPr>
        <p:spPr>
          <a:xfrm>
            <a:off x="3858768" y="2532888"/>
            <a:ext cx="1216152" cy="210312"/>
          </a:xfrm>
          <a:prstGeom prst="rect">
            <a:avLst/>
          </a:prstGeom>
          <a:noFill/>
          <a:ln>
            <a:noFill/>
          </a:ln>
        </p:spPr>
        <p:txBody>
          <a:bodyPr wrap="square" lIns="0" tIns="0" rIns="0" bIns="0" anchor="t">
            <a:noAutofit/>
          </a:bodyPr>
          <a:lstStyle/>
          <a:p>
            <a:pPr marL="0" indent="0" algn="ctr">
              <a:lnSpc>
                <a:spcPct val="110000"/>
              </a:lnSpc>
              <a:spcAft>
                <a:spcPts val="0"/>
              </a:spcAft>
              <a:buNone/>
            </a:pPr>
            <a:r>
              <a:rPr lang="en-US" sz="1150" b="0">
                <a:solidFill>
                  <a:srgbClr val="182C2A"/>
                </a:solidFill>
                <a:latin typeface="Arial"/>
                <a:ea typeface="Arial"/>
                <a:cs typeface="Arial"/>
              </a:rPr>
              <a:t>Core flow</a:t>
            </a:r>
            <a:endParaRPr sz="1150"/>
          </a:p>
        </p:txBody>
      </p:sp>
      <p:sp>
        <p:nvSpPr>
          <p:cNvPr id="1014" name="milestone arrow"/>
          <p:cNvSpPr txBox="1"/>
          <p:nvPr/>
        </p:nvSpPr>
        <p:spPr>
          <a:xfrm>
            <a:off x="5202936" y="2404872"/>
            <a:ext cx="146304" cy="128016"/>
          </a:xfrm>
          <a:prstGeom prst="rightArrow">
            <a:avLst/>
          </a:prstGeom>
          <a:solidFill>
            <a:srgbClr val="23665B"/>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15" name="H7 milestone"/>
          <p:cNvSpPr txBox="1"/>
          <p:nvPr/>
        </p:nvSpPr>
        <p:spPr>
          <a:xfrm>
            <a:off x="5404104" y="2148840"/>
            <a:ext cx="1362456" cy="667512"/>
          </a:xfrm>
          <a:prstGeom prst="roundRect">
            <a:avLst/>
          </a:prstGeom>
          <a:solidFill>
            <a:srgbClr val="EDF5F1"/>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16" name="text"/>
          <p:cNvSpPr txBox="1"/>
          <p:nvPr/>
        </p:nvSpPr>
        <p:spPr>
          <a:xfrm>
            <a:off x="5495544" y="2240280"/>
            <a:ext cx="1179576" cy="219456"/>
          </a:xfrm>
          <a:prstGeom prst="rect">
            <a:avLst/>
          </a:prstGeom>
          <a:noFill/>
          <a:ln>
            <a:noFill/>
          </a:ln>
        </p:spPr>
        <p:txBody>
          <a:bodyPr wrap="square" lIns="0" tIns="0" rIns="0" bIns="0" anchor="t">
            <a:noAutofit/>
          </a:bodyPr>
          <a:lstStyle/>
          <a:p>
            <a:pPr marL="0" indent="0" algn="ctr">
              <a:lnSpc>
                <a:spcPct val="110000"/>
              </a:lnSpc>
              <a:spcAft>
                <a:spcPts val="0"/>
              </a:spcAft>
              <a:buNone/>
            </a:pPr>
            <a:r>
              <a:rPr lang="en-US" sz="1400" b="1">
                <a:solidFill>
                  <a:srgbClr val="23665B"/>
                </a:solidFill>
                <a:latin typeface="Arial"/>
                <a:ea typeface="Arial"/>
                <a:cs typeface="Arial"/>
              </a:rPr>
              <a:t>H7</a:t>
            </a:r>
            <a:endParaRPr sz="1400"/>
          </a:p>
        </p:txBody>
      </p:sp>
      <p:sp>
        <p:nvSpPr>
          <p:cNvPr id="1017" name="text"/>
          <p:cNvSpPr txBox="1"/>
          <p:nvPr/>
        </p:nvSpPr>
        <p:spPr>
          <a:xfrm>
            <a:off x="5477256" y="2532888"/>
            <a:ext cx="1216152" cy="210312"/>
          </a:xfrm>
          <a:prstGeom prst="rect">
            <a:avLst/>
          </a:prstGeom>
          <a:noFill/>
          <a:ln>
            <a:noFill/>
          </a:ln>
        </p:spPr>
        <p:txBody>
          <a:bodyPr wrap="square" lIns="0" tIns="0" rIns="0" bIns="0" anchor="t">
            <a:noAutofit/>
          </a:bodyPr>
          <a:lstStyle/>
          <a:p>
            <a:pPr marL="0" indent="0" algn="ctr">
              <a:lnSpc>
                <a:spcPct val="110000"/>
              </a:lnSpc>
              <a:spcAft>
                <a:spcPts val="0"/>
              </a:spcAft>
              <a:buNone/>
            </a:pPr>
            <a:r>
              <a:rPr lang="en-US" sz="1150" b="0">
                <a:solidFill>
                  <a:srgbClr val="182C2A"/>
                </a:solidFill>
                <a:latin typeface="Arial"/>
                <a:ea typeface="Arial"/>
                <a:cs typeface="Arial"/>
              </a:rPr>
              <a:t>Freeze</a:t>
            </a:r>
            <a:endParaRPr sz="1150"/>
          </a:p>
        </p:txBody>
      </p:sp>
      <p:sp>
        <p:nvSpPr>
          <p:cNvPr id="1018" name="milestone arrow"/>
          <p:cNvSpPr txBox="1"/>
          <p:nvPr/>
        </p:nvSpPr>
        <p:spPr>
          <a:xfrm>
            <a:off x="6821424" y="2404872"/>
            <a:ext cx="146304" cy="128016"/>
          </a:xfrm>
          <a:prstGeom prst="rightArrow">
            <a:avLst/>
          </a:prstGeom>
          <a:solidFill>
            <a:srgbClr val="23665B"/>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19" name="H8 milestone"/>
          <p:cNvSpPr txBox="1"/>
          <p:nvPr/>
        </p:nvSpPr>
        <p:spPr>
          <a:xfrm>
            <a:off x="7022592" y="2148840"/>
            <a:ext cx="1362456" cy="667512"/>
          </a:xfrm>
          <a:prstGeom prst="roundRect">
            <a:avLst/>
          </a:prstGeom>
          <a:solidFill>
            <a:srgbClr val="EDF5F1"/>
          </a:solidFill>
          <a:ln>
            <a:noFill/>
          </a:ln>
        </p:spPr>
        <p:txBody>
          <a:bodyPr wrap="square" lIns="0" tIns="0" rIns="0" bIns="0" anchor="t">
            <a:noAutofit/>
          </a:bodyPr>
          <a:lstStyle/>
          <a:p>
            <a:pPr marL="0" indent="0" algn="l">
              <a:lnSpc>
                <a:spcPct val="110000"/>
              </a:lnSpc>
              <a:spcAft>
                <a:spcPts val="400"/>
              </a:spcAft>
              <a:buNone/>
            </a:pPr>
            <a:endParaRPr sz="100"/>
          </a:p>
        </p:txBody>
      </p:sp>
      <p:sp>
        <p:nvSpPr>
          <p:cNvPr id="1020" name="text"/>
          <p:cNvSpPr txBox="1"/>
          <p:nvPr/>
        </p:nvSpPr>
        <p:spPr>
          <a:xfrm>
            <a:off x="7114032" y="2240280"/>
            <a:ext cx="1179576" cy="219456"/>
          </a:xfrm>
          <a:prstGeom prst="rect">
            <a:avLst/>
          </a:prstGeom>
          <a:noFill/>
          <a:ln>
            <a:noFill/>
          </a:ln>
        </p:spPr>
        <p:txBody>
          <a:bodyPr wrap="square" lIns="0" tIns="0" rIns="0" bIns="0" anchor="t">
            <a:noAutofit/>
          </a:bodyPr>
          <a:lstStyle/>
          <a:p>
            <a:pPr marL="0" indent="0" algn="ctr">
              <a:lnSpc>
                <a:spcPct val="110000"/>
              </a:lnSpc>
              <a:spcAft>
                <a:spcPts val="0"/>
              </a:spcAft>
              <a:buNone/>
            </a:pPr>
            <a:r>
              <a:rPr lang="en-US" sz="1400" b="1">
                <a:solidFill>
                  <a:srgbClr val="23665B"/>
                </a:solidFill>
                <a:latin typeface="Arial"/>
                <a:ea typeface="Arial"/>
                <a:cs typeface="Arial"/>
              </a:rPr>
              <a:t>H8</a:t>
            </a:r>
            <a:endParaRPr sz="1400"/>
          </a:p>
        </p:txBody>
      </p:sp>
      <p:sp>
        <p:nvSpPr>
          <p:cNvPr id="1021" name="text"/>
          <p:cNvSpPr txBox="1"/>
          <p:nvPr/>
        </p:nvSpPr>
        <p:spPr>
          <a:xfrm>
            <a:off x="7095744" y="2532888"/>
            <a:ext cx="1216152" cy="210312"/>
          </a:xfrm>
          <a:prstGeom prst="rect">
            <a:avLst/>
          </a:prstGeom>
          <a:noFill/>
          <a:ln>
            <a:noFill/>
          </a:ln>
        </p:spPr>
        <p:txBody>
          <a:bodyPr wrap="square" lIns="0" tIns="0" rIns="0" bIns="0" anchor="t">
            <a:noAutofit/>
          </a:bodyPr>
          <a:lstStyle/>
          <a:p>
            <a:pPr marL="0" indent="0" algn="ctr">
              <a:lnSpc>
                <a:spcPct val="110000"/>
              </a:lnSpc>
              <a:spcAft>
                <a:spcPts val="0"/>
              </a:spcAft>
              <a:buNone/>
            </a:pPr>
            <a:r>
              <a:rPr lang="en-US" sz="1150" b="0">
                <a:solidFill>
                  <a:srgbClr val="182C2A"/>
                </a:solidFill>
                <a:latin typeface="Arial"/>
                <a:ea typeface="Arial"/>
                <a:cs typeface="Arial"/>
              </a:rPr>
              <a:t>Demo</a:t>
            </a:r>
            <a:endParaRPr sz="1150"/>
          </a:p>
        </p:txBody>
      </p:sp>
      <p:sp>
        <p:nvSpPr>
          <p:cNvPr id="1022" name="text"/>
          <p:cNvSpPr txBox="1"/>
          <p:nvPr/>
        </p:nvSpPr>
        <p:spPr>
          <a:xfrm>
            <a:off x="548640" y="3209544"/>
            <a:ext cx="2423160" cy="301752"/>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600" b="1">
                <a:solidFill>
                  <a:srgbClr val="182C2A"/>
                </a:solidFill>
                <a:latin typeface="Arial"/>
                <a:ea typeface="Arial"/>
                <a:cs typeface="Arial"/>
              </a:rPr>
              <a:t>Build</a:t>
            </a:r>
            <a:endParaRPr sz="1600"/>
          </a:p>
        </p:txBody>
      </p:sp>
      <p:sp>
        <p:nvSpPr>
          <p:cNvPr id="1023" name="text"/>
          <p:cNvSpPr txBox="1"/>
          <p:nvPr/>
        </p:nvSpPr>
        <p:spPr>
          <a:xfrm>
            <a:off x="548640" y="3666744"/>
            <a:ext cx="2423160" cy="658368"/>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300" b="0">
                <a:solidFill>
                  <a:srgbClr val="52635F"/>
                </a:solidFill>
                <a:latin typeface="Arial"/>
                <a:ea typeface="Arial"/>
                <a:cs typeface="Arial"/>
              </a:rPr>
              <a:t>Four parallel roles:</a:t>
            </a:r>
            <a:endParaRPr sz="1300"/>
          </a:p>
          <a:p>
            <a:pPr marL="0" indent="0" algn="l">
              <a:lnSpc>
                <a:spcPct val="110000"/>
              </a:lnSpc>
              <a:spcAft>
                <a:spcPts val="0"/>
              </a:spcAft>
              <a:buNone/>
            </a:pPr>
            <a:r>
              <a:rPr lang="en-US" sz="1300" b="0">
                <a:solidFill>
                  <a:srgbClr val="52635F"/>
                </a:solidFill>
                <a:latin typeface="Arial"/>
                <a:ea typeface="Arial"/>
                <a:cs typeface="Arial"/>
              </a:rPr>
              <a:t>frontend, backend,</a:t>
            </a:r>
            <a:endParaRPr sz="1300"/>
          </a:p>
          <a:p>
            <a:pPr marL="0" indent="0" algn="l">
              <a:lnSpc>
                <a:spcPct val="110000"/>
              </a:lnSpc>
              <a:spcAft>
                <a:spcPts val="0"/>
              </a:spcAft>
              <a:buNone/>
            </a:pPr>
            <a:r>
              <a:rPr lang="en-US" sz="1300" b="0">
                <a:solidFill>
                  <a:srgbClr val="52635F"/>
                </a:solidFill>
                <a:latin typeface="Arial"/>
                <a:ea typeface="Arial"/>
                <a:cs typeface="Arial"/>
              </a:rPr>
              <a:t>vision, map &amp; QA.</a:t>
            </a:r>
            <a:endParaRPr sz="1300"/>
          </a:p>
        </p:txBody>
      </p:sp>
      <p:sp>
        <p:nvSpPr>
          <p:cNvPr id="1024" name="text"/>
          <p:cNvSpPr txBox="1"/>
          <p:nvPr/>
        </p:nvSpPr>
        <p:spPr>
          <a:xfrm>
            <a:off x="3264408" y="3209544"/>
            <a:ext cx="2423160" cy="301752"/>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600" b="1">
                <a:solidFill>
                  <a:srgbClr val="182C2A"/>
                </a:solidFill>
                <a:latin typeface="Arial"/>
                <a:ea typeface="Arial"/>
                <a:cs typeface="Arial"/>
              </a:rPr>
              <a:t>Impact to validate</a:t>
            </a:r>
            <a:endParaRPr sz="1600"/>
          </a:p>
        </p:txBody>
      </p:sp>
      <p:sp>
        <p:nvSpPr>
          <p:cNvPr id="1025" name="text"/>
          <p:cNvSpPr txBox="1"/>
          <p:nvPr/>
        </p:nvSpPr>
        <p:spPr>
          <a:xfrm>
            <a:off x="3264408" y="3666744"/>
            <a:ext cx="2423160" cy="658368"/>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300" b="0">
                <a:solidFill>
                  <a:srgbClr val="52635F"/>
                </a:solidFill>
                <a:latin typeface="Arial"/>
                <a:ea typeface="Arial"/>
                <a:cs typeface="Arial"/>
              </a:rPr>
              <a:t>Can a resident create a</a:t>
            </a:r>
            <a:endParaRPr sz="1300"/>
          </a:p>
          <a:p>
            <a:pPr marL="0" indent="0" algn="l">
              <a:lnSpc>
                <a:spcPct val="110000"/>
              </a:lnSpc>
              <a:spcAft>
                <a:spcPts val="0"/>
              </a:spcAft>
              <a:buNone/>
            </a:pPr>
            <a:r>
              <a:rPr lang="en-US" sz="1300" b="0">
                <a:solidFill>
                  <a:srgbClr val="52635F"/>
                </a:solidFill>
                <a:latin typeface="Arial"/>
                <a:ea typeface="Arial"/>
                <a:cs typeface="Arial"/>
              </a:rPr>
              <a:t>clear reviewed report and</a:t>
            </a:r>
            <a:endParaRPr sz="1300"/>
          </a:p>
          <a:p>
            <a:pPr marL="0" indent="0" algn="l">
              <a:lnSpc>
                <a:spcPct val="110000"/>
              </a:lnSpc>
              <a:spcAft>
                <a:spcPts val="0"/>
              </a:spcAft>
              <a:buNone/>
            </a:pPr>
            <a:r>
              <a:rPr lang="en-US" sz="1300" b="0">
                <a:solidFill>
                  <a:srgbClr val="52635F"/>
                </a:solidFill>
                <a:latin typeface="Arial"/>
                <a:ea typeface="Arial"/>
                <a:cs typeface="Arial"/>
              </a:rPr>
              <a:t>copy a useful complaint?</a:t>
            </a:r>
            <a:endParaRPr sz="1300"/>
          </a:p>
        </p:txBody>
      </p:sp>
      <p:sp>
        <p:nvSpPr>
          <p:cNvPr id="1026" name="text"/>
          <p:cNvSpPr txBox="1"/>
          <p:nvPr/>
        </p:nvSpPr>
        <p:spPr>
          <a:xfrm>
            <a:off x="5980176" y="3209544"/>
            <a:ext cx="2423160" cy="301752"/>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600" b="1">
                <a:solidFill>
                  <a:srgbClr val="182C2A"/>
                </a:solidFill>
                <a:latin typeface="Arial"/>
                <a:ea typeface="Arial"/>
                <a:cs typeface="Arial"/>
              </a:rPr>
              <a:t>After the event</a:t>
            </a:r>
            <a:endParaRPr sz="1600"/>
          </a:p>
        </p:txBody>
      </p:sp>
      <p:sp>
        <p:nvSpPr>
          <p:cNvPr id="1027" name="text"/>
          <p:cNvSpPr txBox="1"/>
          <p:nvPr/>
        </p:nvSpPr>
        <p:spPr>
          <a:xfrm>
            <a:off x="5980176" y="3666744"/>
            <a:ext cx="2423160" cy="658368"/>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300" b="0">
                <a:solidFill>
                  <a:srgbClr val="52635F"/>
                </a:solidFill>
                <a:latin typeface="Arial"/>
                <a:ea typeface="Arial"/>
                <a:cs typeface="Arial"/>
              </a:rPr>
              <a:t>Density hotspots,</a:t>
            </a:r>
            <a:endParaRPr sz="1300"/>
          </a:p>
          <a:p>
            <a:pPr marL="0" indent="0" algn="l">
              <a:lnSpc>
                <a:spcPct val="110000"/>
              </a:lnSpc>
              <a:spcAft>
                <a:spcPts val="0"/>
              </a:spcAft>
              <a:buNone/>
            </a:pPr>
            <a:r>
              <a:rPr lang="en-US" sz="1300" b="0">
                <a:solidFill>
                  <a:srgbClr val="52635F"/>
                </a:solidFill>
                <a:latin typeface="Arial"/>
                <a:ea typeface="Arial"/>
                <a:cs typeface="Arial"/>
              </a:rPr>
              <a:t>moderation and broader</a:t>
            </a:r>
            <a:endParaRPr sz="1300"/>
          </a:p>
          <a:p>
            <a:pPr marL="0" indent="0" algn="l">
              <a:lnSpc>
                <a:spcPct val="110000"/>
              </a:lnSpc>
              <a:spcAft>
                <a:spcPts val="0"/>
              </a:spcAft>
              <a:buNone/>
            </a:pPr>
            <a:r>
              <a:rPr lang="en-US" sz="1300" b="0">
                <a:solidFill>
                  <a:srgbClr val="52635F"/>
                </a:solidFill>
                <a:latin typeface="Arial"/>
                <a:ea typeface="Arial"/>
                <a:cs typeface="Arial"/>
              </a:rPr>
              <a:t>field evaluation.</a:t>
            </a:r>
            <a:endParaRPr sz="1300"/>
          </a:p>
        </p:txBody>
      </p:sp>
      <p:sp>
        <p:nvSpPr>
          <p:cNvPr id="1028" name="text"/>
          <p:cNvSpPr txBox="1"/>
          <p:nvPr/>
        </p:nvSpPr>
        <p:spPr>
          <a:xfrm>
            <a:off x="548640" y="4443984"/>
            <a:ext cx="7360920" cy="192024"/>
          </a:xfrm>
          <a:prstGeom prst="rect">
            <a:avLst/>
          </a:prstGeom>
          <a:noFill/>
          <a:ln>
            <a:noFill/>
          </a:ln>
        </p:spPr>
        <p:txBody>
          <a:bodyPr wrap="square" lIns="0" tIns="0" rIns="0" bIns="0" anchor="t">
            <a:noAutofit/>
          </a:bodyPr>
          <a:lstStyle/>
          <a:p>
            <a:pPr marL="0" indent="0" algn="l">
              <a:lnSpc>
                <a:spcPct val="110000"/>
              </a:lnSpc>
              <a:spcAft>
                <a:spcPts val="0"/>
              </a:spcAft>
              <a:buNone/>
            </a:pPr>
            <a:r>
              <a:rPr lang="en-US" sz="1019" b="0">
                <a:solidFill>
                  <a:srgbClr val="52635F"/>
                </a:solidFill>
                <a:latin typeface="Arial"/>
                <a:ea typeface="Arial"/>
                <a:cs typeface="Arial"/>
              </a:rPr>
              <a:t>Current status: proposal and planning pack. Implementation follows the event rules.</a:t>
            </a:r>
            <a:endParaRPr sz="1019"/>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1243</Words>
  <Application>Microsoft Office PowerPoint</Application>
  <PresentationFormat>On-screen Show (16:9)</PresentationFormat>
  <Paragraphs>116</Paragraphs>
  <Slides>6</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Sharanya</cp:lastModifiedBy>
  <cp:revision>1</cp:revision>
  <dcterms:modified xsi:type="dcterms:W3CDTF">2026-10-20T09:40:26Z</dcterms:modified>
</cp:coreProperties>
</file>